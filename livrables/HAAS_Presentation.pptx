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Ouverture — 25 secondes
Nous proposons HAAS, Help as a Service : une communauté où présenter ses projets, trouver de l’aide et construire ensemble. Nous partons des usages décrits dans le mail de l’organisateur. La rencontre peut partir d’un coup de main : projet volontairement ouvert, offre concrète, accord explicite du propriétaire, puis échange contextualisé. Notre atelier approfondit certains échanges, sans être obligatoire. Le nom est provisoire pour le concours. Ce support présente un produit conçu : ne pas annoncer du code ou des utilisateurs déjà acquis. Source : mail fourni [M] et décisions de conception HAAS.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cadrage — 25 secondes
Le mail de CADEV met en avant les développeurs qui se retrouvent, discutent, apprennent, montrent leurs projets et collaborent. Il laisse chaque équipe choisir comment créer cette expérience. Nos fiches projet, notre annuaire et notre atelier sont nos réponses à ce cadrage, pas une liste de modules imposés. Source : texte du mail fourni, expéditeur CADEV by Systalink, affiché le 30 septembre à 18:11 ; aucun accès à la messagerie.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proposition — 30 secondes
Trois portes d’entrée suffisent : je présente mon projet, je découvre des développeurs ou je pose une question. Les échanges utilisent les mêmes fils, commentaires et propositions. Une question de connaissance ne demande ni extrait de code, ni test, ni formulaire de panne. Les connaissances peuvent devenir des capsules réutilisables. Choix HAAS : F16 projets, F17 découverte, F02 question et F18 coup de main. Une offre en attente est privée aux deux personnes ; un résumé consenti est partagé après accord. Ni messagerie générale ni accès au dépôt.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L’expérience — 35 secondes
Cet écran est un schéma de principe avec des données fictives. Le propriétaire présente son projet et ouvre volontairement les coups de main, même sans demande initiale. Moussa propose un test limité. Le propriétaire accepte après aperçu public et crée ou choisit un fil. Deux consentements protègent la publication ; une offre n’ajoute aucune permission. Une demande existante peut toujours recevoir une contribution directe. L’annuaire est volontaire : il affiche des technologies et une disponibilité déclarée, pas une présence en ligne ni une expertise certifiée. Aucun dépôt de code n’est importé et aucun droit sur le dépôt externe n’est transféré par la fiche. Source : spécification HAAS communauté.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parcours — 30 secondes
A et B et C désignent des personnages de démonstration, pas trois membres de notre équipe. La chaîne relie un projet ouvert à une offre bornée, un accord, puis un apport et un partage. Le refus et l’absence de réponse ne sont pas pénalisés. Accepté signifie collaboration commencée, pas travail terminé. Les mêmes discussions sont utilisées ; aucune messagerie supplémentaire ni recommandation IA. Quand une acceptation est pertinente, elle revient à l’auteur de la demande. Une simple discussion peut aussi apporter une connaissance sans produire une capsule ou exécuter un laboratoire. Ce parcours devra être testé avec de vrais utilisateurs et leurs retours, pas présenté comme une adoption déjà acquise.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différence — 40 secondes
Pour une solution compatible, un membre apporte un cas à vérifier. L’équipe le traduit en scénario approuvé par une revue et une release, jamais en exécutant automatiquement le texte reçu. Sur B1, nous comparons un exemple pédagogique incorrect à une version corrigée, avec les mêmes entrées et des données fictives séparées. Les chiffres deux et un sont ici les résultats attendus à implémenter, pas des résultats déjà mesurés. Le logiciel livré devra les recalculer, montrer les échecs et conserver les versions et limites. Une comparaison n’est ni une certification de sécurité ni une intégration de paiement.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L’IA — 25 secondes
Nous ne demandons pas aux utilisateurs d’abandonner leur assistant. HAAS organise les échanges avec d’autres personnes, la découverte de projets et la mémoire des contributions. Nous ne fondons pas le projet sur l’idée que l’IA ne peut pas coder ou tester. Le bénéfice supplémentaire doit être observé au pilote. Aucun chatbot supplémentaire n’est requis dans le périmètre actuel. Il s’agit du positionnement HAAS, non d’une comparaison de performances ou d’un avantage démontré.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40 secondes
Nous sommes deux développeurs Laravel et React. Le backend complet est testé avant le frontend, avec un GO_FRONTEND humain. Côté hébergement : un serveur Systalink/Datacloud pour Laravel, PostgreSQL et un runner local restreint ; le frontend React est sur Vercel. Le runner n’exécute que des scénarios approuvés, sans secrets applicatifs, avec une seule exécution simultanée. Les cookies et CORS utilisent des domaines de confiance à configurer. La sauvegarde est distante et sa restauration doit être testée. Qodana Ultimate est déclaré disponible ; les résultats doivent venir d’analyses réelles. Aucune machine n’est déclarée provisionnée par cette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 25 secondes
Le mail nous invite à créer la meilleure expérience communautaire possible. Notre réponse est HAAS : se rencontrer autour d’un petit coup de main volontaire, puis rendre l’apport visible. Pas de droit de dépôt ni de résultat inventé après acceptation. Le pilote vérifiera si deux développeurs peuvent effectuer ce premier échange sans que l’équipe orchestre chaque clic. L’atelier constitue une différence visible pour certaines solutions. Notre prochaine preuve doit venir du produit développé et de testeurs : peuvent-ils découvrir, contribuer et reprendre une solution sans accompagnement constant ? Ne pas annoncer de victoire, traction ou preuve technique non acquise.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UNE COMMUNAUTÉ POUR LES DÉVELOPPEURS</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01</a:t>
            </a:r>
            <a:endParaRPr lang="en-US" sz="1100" dirty="0"/>
          </a:p>
        </p:txBody>
      </p:sp>
      <p:pic>
        <p:nvPicPr>
          <p:cNvPr id="7" name="Image 0" descr="/mnt/data/_haas_coup_de_main/HAAS_Projet/assets/brand/haas-logo.png">    </p:cNvPr>
          <p:cNvPicPr>
            <a:picLocks noChangeAspect="1"/>
          </p:cNvPicPr>
          <p:nvPr/>
        </p:nvPicPr>
        <p:blipFill>
          <a:blip r:embed="rId1"/>
          <a:stretch>
            <a:fillRect/>
          </a:stretch>
        </p:blipFill>
        <p:spPr>
          <a:xfrm>
            <a:off x="566928" y="960120"/>
            <a:ext cx="3246120" cy="1188720"/>
          </a:xfrm>
          <a:prstGeom prst="rect">
            <a:avLst/>
          </a:prstGeom>
        </p:spPr>
      </p:pic>
      <p:sp>
        <p:nvSpPr>
          <p:cNvPr id="8" name="Text 5"/>
          <p:cNvSpPr/>
          <p:nvPr/>
        </p:nvSpPr>
        <p:spPr>
          <a:xfrm>
            <a:off x="585216" y="2496312"/>
            <a:ext cx="7360920" cy="1901952"/>
          </a:xfrm>
          <a:prstGeom prst="rect">
            <a:avLst/>
          </a:prstGeom>
          <a:noFill/>
          <a:ln/>
        </p:spPr>
        <p:txBody>
          <a:bodyPr wrap="square" lIns="0" tIns="0" rIns="0" bIns="0" rtlCol="0" anchor="t"/>
          <a:lstStyle/>
          <a:p>
            <a:pPr indent="0" marL="0">
              <a:buNone/>
            </a:pPr>
            <a:r>
              <a:rPr lang="en-US" sz="3600" b="1" dirty="0">
                <a:solidFill>
                  <a:srgbClr val="102A2E"/>
                </a:solidFill>
                <a:latin typeface="Aptos" pitchFamily="34" charset="0"/>
                <a:ea typeface="Aptos" pitchFamily="34" charset="-122"/>
                <a:cs typeface="Aptos" pitchFamily="34" charset="-120"/>
              </a:rPr>
              <a:t>Un projet vous plaît ?</a:t>
            </a:r>
            <a:endParaRPr lang="en-US" sz="3600" dirty="0"/>
          </a:p>
          <a:p>
            <a:pPr indent="0" marL="0">
              <a:buNone/>
            </a:pPr>
            <a:r>
              <a:rPr lang="en-US" sz="3600" b="1" dirty="0">
                <a:solidFill>
                  <a:srgbClr val="102A2E"/>
                </a:solidFill>
                <a:latin typeface="Aptos" pitchFamily="34" charset="0"/>
                <a:ea typeface="Aptos" pitchFamily="34" charset="-122"/>
                <a:cs typeface="Aptos" pitchFamily="34" charset="-120"/>
              </a:rPr>
              <a:t>Donnez un coup de main.</a:t>
            </a:r>
            <a:endParaRPr lang="en-US" sz="3600" dirty="0"/>
          </a:p>
          <a:p>
            <a:pPr indent="0" marL="0">
              <a:buNone/>
            </a:pPr>
            <a:r>
              <a:rPr lang="en-US" sz="3600" b="1" dirty="0">
                <a:solidFill>
                  <a:srgbClr val="102A2E"/>
                </a:solidFill>
                <a:latin typeface="Aptos" pitchFamily="34" charset="0"/>
                <a:ea typeface="Aptos" pitchFamily="34" charset="-122"/>
                <a:cs typeface="Aptos" pitchFamily="34" charset="-120"/>
              </a:rPr>
              <a:t>Construisez ensemble.</a:t>
            </a:r>
            <a:endParaRPr lang="en-US" sz="3600" dirty="0"/>
          </a:p>
        </p:txBody>
      </p:sp>
      <p:sp>
        <p:nvSpPr>
          <p:cNvPr id="9" name="Text 6"/>
          <p:cNvSpPr/>
          <p:nvPr/>
        </p:nvSpPr>
        <p:spPr>
          <a:xfrm>
            <a:off x="603504" y="4727448"/>
            <a:ext cx="6720840" cy="777240"/>
          </a:xfrm>
          <a:prstGeom prst="rect">
            <a:avLst/>
          </a:prstGeom>
          <a:noFill/>
          <a:ln/>
        </p:spPr>
        <p:txBody>
          <a:bodyPr wrap="square" lIns="0" tIns="0" rIns="0" bIns="0" rtlCol="0" anchor="ctr"/>
          <a:lstStyle/>
          <a:p>
            <a:pPr indent="0" marL="0">
              <a:buNone/>
            </a:pPr>
            <a:r>
              <a:rPr lang="en-US" sz="2300" dirty="0">
                <a:solidFill>
                  <a:srgbClr val="486064"/>
                </a:solidFill>
                <a:latin typeface="Aptos" pitchFamily="34" charset="0"/>
                <a:ea typeface="Aptos" pitchFamily="34" charset="-122"/>
                <a:cs typeface="Aptos" pitchFamily="34" charset="-120"/>
              </a:rPr>
              <a:t>Une première aide concrète.</a:t>
            </a:r>
            <a:endParaRPr lang="en-US" sz="2300" dirty="0"/>
          </a:p>
          <a:p>
            <a:pPr indent="0" marL="0">
              <a:buNone/>
            </a:pPr>
            <a:r>
              <a:rPr lang="en-US" sz="2300" dirty="0">
                <a:solidFill>
                  <a:srgbClr val="486064"/>
                </a:solidFill>
                <a:latin typeface="Aptos" pitchFamily="34" charset="0"/>
                <a:ea typeface="Aptos" pitchFamily="34" charset="-122"/>
                <a:cs typeface="Aptos" pitchFamily="34" charset="-120"/>
              </a:rPr>
              <a:t>Une rencontre qui fait avancer.</a:t>
            </a:r>
            <a:endParaRPr lang="en-US" sz="2300" dirty="0"/>
          </a:p>
        </p:txBody>
      </p:sp>
      <p:sp>
        <p:nvSpPr>
          <p:cNvPr id="10" name="Shape 7"/>
          <p:cNvSpPr/>
          <p:nvPr/>
        </p:nvSpPr>
        <p:spPr>
          <a:xfrm>
            <a:off x="8229600" y="2267712"/>
            <a:ext cx="3319272" cy="786384"/>
          </a:xfrm>
          <a:prstGeom prst="roundRect">
            <a:avLst>
              <a:gd name="adj" fmla="val 16279"/>
            </a:avLst>
          </a:prstGeom>
          <a:solidFill>
            <a:srgbClr val="FFFFFF"/>
          </a:solidFill>
          <a:ln w="10160">
            <a:solidFill>
              <a:srgbClr val="DCE5DF"/>
            </a:solidFill>
            <a:prstDash val="solid"/>
          </a:ln>
        </p:spPr>
      </p:sp>
      <p:sp>
        <p:nvSpPr>
          <p:cNvPr id="11" name="Text 8"/>
          <p:cNvSpPr/>
          <p:nvPr/>
        </p:nvSpPr>
        <p:spPr>
          <a:xfrm>
            <a:off x="8439912" y="2395728"/>
            <a:ext cx="2852928" cy="256032"/>
          </a:xfrm>
          <a:prstGeom prst="rect">
            <a:avLst/>
          </a:prstGeom>
          <a:noFill/>
          <a:ln/>
        </p:spPr>
        <p:txBody>
          <a:bodyPr wrap="square" lIns="0" tIns="0" rIns="0" bIns="0" rtlCol="0" anchor="ctr"/>
          <a:lstStyle/>
          <a:p>
            <a:pPr indent="0" marL="0">
              <a:buNone/>
            </a:pPr>
            <a:r>
              <a:rPr lang="en-US" sz="2000" b="1" dirty="0">
                <a:solidFill>
                  <a:srgbClr val="087F73"/>
                </a:solidFill>
                <a:latin typeface="Aptos" pitchFamily="34" charset="0"/>
                <a:ea typeface="Aptos" pitchFamily="34" charset="-122"/>
                <a:cs typeface="Aptos" pitchFamily="34" charset="-120"/>
              </a:rPr>
              <a:t>Projets</a:t>
            </a:r>
            <a:endParaRPr lang="en-US" sz="2000" dirty="0"/>
          </a:p>
        </p:txBody>
      </p:sp>
      <p:sp>
        <p:nvSpPr>
          <p:cNvPr id="12" name="Text 9"/>
          <p:cNvSpPr/>
          <p:nvPr/>
        </p:nvSpPr>
        <p:spPr>
          <a:xfrm>
            <a:off x="8439912" y="2706624"/>
            <a:ext cx="2852928" cy="173736"/>
          </a:xfrm>
          <a:prstGeom prst="rect">
            <a:avLst/>
          </a:prstGeom>
          <a:noFill/>
          <a:ln/>
        </p:spPr>
        <p:txBody>
          <a:bodyPr wrap="square" lIns="0" tIns="0" rIns="0" bIns="0" rtlCol="0" anchor="ctr"/>
          <a:lstStyle/>
          <a:p>
            <a:pPr indent="0" marL="0">
              <a:buNone/>
            </a:pPr>
            <a:r>
              <a:rPr lang="en-US" sz="1280" dirty="0">
                <a:solidFill>
                  <a:srgbClr val="486064"/>
                </a:solidFill>
                <a:latin typeface="Aptos" pitchFamily="34" charset="0"/>
                <a:ea typeface="Aptos" pitchFamily="34" charset="-122"/>
                <a:cs typeface="Aptos" pitchFamily="34" charset="-120"/>
              </a:rPr>
              <a:t>Montrer ce que l’on construit</a:t>
            </a:r>
            <a:endParaRPr lang="en-US" sz="1280" dirty="0"/>
          </a:p>
        </p:txBody>
      </p:sp>
      <p:sp>
        <p:nvSpPr>
          <p:cNvPr id="13" name="Shape 10"/>
          <p:cNvSpPr/>
          <p:nvPr/>
        </p:nvSpPr>
        <p:spPr>
          <a:xfrm>
            <a:off x="8229600" y="3273552"/>
            <a:ext cx="3319272" cy="786384"/>
          </a:xfrm>
          <a:prstGeom prst="roundRect">
            <a:avLst>
              <a:gd name="adj" fmla="val 16279"/>
            </a:avLst>
          </a:prstGeom>
          <a:solidFill>
            <a:srgbClr val="FFFFFF"/>
          </a:solidFill>
          <a:ln w="10160">
            <a:solidFill>
              <a:srgbClr val="DCE5DF"/>
            </a:solidFill>
            <a:prstDash val="solid"/>
          </a:ln>
        </p:spPr>
      </p:sp>
      <p:sp>
        <p:nvSpPr>
          <p:cNvPr id="14" name="Text 11"/>
          <p:cNvSpPr/>
          <p:nvPr/>
        </p:nvSpPr>
        <p:spPr>
          <a:xfrm>
            <a:off x="8439912" y="3401568"/>
            <a:ext cx="2852928" cy="256032"/>
          </a:xfrm>
          <a:prstGeom prst="rect">
            <a:avLst/>
          </a:prstGeom>
          <a:noFill/>
          <a:ln/>
        </p:spPr>
        <p:txBody>
          <a:bodyPr wrap="square" lIns="0" tIns="0" rIns="0" bIns="0" rtlCol="0" anchor="ctr"/>
          <a:lstStyle/>
          <a:p>
            <a:pPr indent="0" marL="0">
              <a:buNone/>
            </a:pPr>
            <a:r>
              <a:rPr lang="en-US" sz="2000" b="1" dirty="0">
                <a:solidFill>
                  <a:srgbClr val="087F73"/>
                </a:solidFill>
                <a:latin typeface="Aptos" pitchFamily="34" charset="0"/>
                <a:ea typeface="Aptos" pitchFamily="34" charset="-122"/>
                <a:cs typeface="Aptos" pitchFamily="34" charset="-120"/>
              </a:rPr>
              <a:t>Coups de main</a:t>
            </a:r>
            <a:endParaRPr lang="en-US" sz="2000" dirty="0"/>
          </a:p>
        </p:txBody>
      </p:sp>
      <p:sp>
        <p:nvSpPr>
          <p:cNvPr id="15" name="Text 12"/>
          <p:cNvSpPr/>
          <p:nvPr/>
        </p:nvSpPr>
        <p:spPr>
          <a:xfrm>
            <a:off x="8439912" y="3712464"/>
            <a:ext cx="2852928" cy="173736"/>
          </a:xfrm>
          <a:prstGeom prst="rect">
            <a:avLst/>
          </a:prstGeom>
          <a:noFill/>
          <a:ln/>
        </p:spPr>
        <p:txBody>
          <a:bodyPr wrap="square" lIns="0" tIns="0" rIns="0" bIns="0" rtlCol="0" anchor="ctr"/>
          <a:lstStyle/>
          <a:p>
            <a:pPr indent="0" marL="0">
              <a:buNone/>
            </a:pPr>
            <a:r>
              <a:rPr lang="en-US" sz="1280" dirty="0">
                <a:solidFill>
                  <a:srgbClr val="486064"/>
                </a:solidFill>
                <a:latin typeface="Aptos" pitchFamily="34" charset="0"/>
                <a:ea typeface="Aptos" pitchFamily="34" charset="-122"/>
                <a:cs typeface="Aptos" pitchFamily="34" charset="-120"/>
              </a:rPr>
              <a:t>Proposer une aide concrète</a:t>
            </a:r>
            <a:endParaRPr lang="en-US" sz="1280" dirty="0"/>
          </a:p>
        </p:txBody>
      </p:sp>
      <p:sp>
        <p:nvSpPr>
          <p:cNvPr id="16" name="Shape 13"/>
          <p:cNvSpPr/>
          <p:nvPr/>
        </p:nvSpPr>
        <p:spPr>
          <a:xfrm>
            <a:off x="8229600" y="4279392"/>
            <a:ext cx="3319272" cy="786384"/>
          </a:xfrm>
          <a:prstGeom prst="roundRect">
            <a:avLst>
              <a:gd name="adj" fmla="val 16279"/>
            </a:avLst>
          </a:prstGeom>
          <a:solidFill>
            <a:srgbClr val="FFFFFF"/>
          </a:solidFill>
          <a:ln w="10160">
            <a:solidFill>
              <a:srgbClr val="DCE5DF"/>
            </a:solidFill>
            <a:prstDash val="solid"/>
          </a:ln>
        </p:spPr>
      </p:sp>
      <p:sp>
        <p:nvSpPr>
          <p:cNvPr id="17" name="Text 14"/>
          <p:cNvSpPr/>
          <p:nvPr/>
        </p:nvSpPr>
        <p:spPr>
          <a:xfrm>
            <a:off x="8439912" y="4407408"/>
            <a:ext cx="2852928" cy="256032"/>
          </a:xfrm>
          <a:prstGeom prst="rect">
            <a:avLst/>
          </a:prstGeom>
          <a:noFill/>
          <a:ln/>
        </p:spPr>
        <p:txBody>
          <a:bodyPr wrap="square" lIns="0" tIns="0" rIns="0" bIns="0" rtlCol="0" anchor="ctr"/>
          <a:lstStyle/>
          <a:p>
            <a:pPr indent="0" marL="0">
              <a:buNone/>
            </a:pPr>
            <a:r>
              <a:rPr lang="en-US" sz="2000" b="1" dirty="0">
                <a:solidFill>
                  <a:srgbClr val="087F73"/>
                </a:solidFill>
                <a:latin typeface="Aptos" pitchFamily="34" charset="0"/>
                <a:ea typeface="Aptos" pitchFamily="34" charset="-122"/>
                <a:cs typeface="Aptos" pitchFamily="34" charset="-120"/>
              </a:rPr>
              <a:t>Connaissances</a:t>
            </a:r>
            <a:endParaRPr lang="en-US" sz="2000" dirty="0"/>
          </a:p>
        </p:txBody>
      </p:sp>
      <p:sp>
        <p:nvSpPr>
          <p:cNvPr id="18" name="Text 15"/>
          <p:cNvSpPr/>
          <p:nvPr/>
        </p:nvSpPr>
        <p:spPr>
          <a:xfrm>
            <a:off x="8439912" y="4718304"/>
            <a:ext cx="2852928" cy="173736"/>
          </a:xfrm>
          <a:prstGeom prst="rect">
            <a:avLst/>
          </a:prstGeom>
          <a:noFill/>
          <a:ln/>
        </p:spPr>
        <p:txBody>
          <a:bodyPr wrap="square" lIns="0" tIns="0" rIns="0" bIns="0" rtlCol="0" anchor="ctr"/>
          <a:lstStyle/>
          <a:p>
            <a:pPr indent="0" marL="0">
              <a:buNone/>
            </a:pPr>
            <a:r>
              <a:rPr lang="en-US" sz="1280" dirty="0">
                <a:solidFill>
                  <a:srgbClr val="486064"/>
                </a:solidFill>
                <a:latin typeface="Aptos" pitchFamily="34" charset="0"/>
                <a:ea typeface="Aptos" pitchFamily="34" charset="-122"/>
                <a:cs typeface="Aptos" pitchFamily="34" charset="-120"/>
              </a:rPr>
              <a:t>Apprendre les uns des autres</a:t>
            </a:r>
            <a:endParaRPr lang="en-US" sz="1280" dirty="0"/>
          </a:p>
        </p:txBody>
      </p:sp>
      <p:sp>
        <p:nvSpPr>
          <p:cNvPr id="19" name="Text 16"/>
          <p:cNvSpPr/>
          <p:nvPr/>
        </p:nvSpPr>
        <p:spPr>
          <a:xfrm>
            <a:off x="612648" y="5925312"/>
            <a:ext cx="9875520" cy="201168"/>
          </a:xfrm>
          <a:prstGeom prst="rect">
            <a:avLst/>
          </a:prstGeom>
          <a:noFill/>
          <a:ln/>
        </p:spPr>
        <p:txBody>
          <a:bodyPr wrap="square" lIns="0" tIns="0" rIns="0" bIns="0" rtlCol="0" anchor="ctr"/>
          <a:lstStyle/>
          <a:p>
            <a:pPr indent="0" marL="0">
              <a:buNone/>
            </a:pPr>
            <a:r>
              <a:rPr lang="en-US" sz="1100" dirty="0">
                <a:solidFill>
                  <a:srgbClr val="486064"/>
                </a:solidFill>
                <a:latin typeface="Aptos" pitchFamily="34" charset="0"/>
                <a:ea typeface="Aptos" pitchFamily="34" charset="-122"/>
                <a:cs typeface="Aptos" pitchFamily="34" charset="-120"/>
              </a:rPr>
              <a:t>Projet de concours · Conception à développer et à valider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LE THÈME DE L’ORGANISATEUR</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02</a:t>
            </a:r>
            <a:endParaRPr lang="en-US" sz="1100" dirty="0"/>
          </a:p>
        </p:txBody>
      </p:sp>
      <p:sp>
        <p:nvSpPr>
          <p:cNvPr id="7" name="Text 5"/>
          <p:cNvSpPr/>
          <p:nvPr/>
        </p:nvSpPr>
        <p:spPr>
          <a:xfrm>
            <a:off x="585216" y="960120"/>
            <a:ext cx="10881360" cy="969264"/>
          </a:xfrm>
          <a:prstGeom prst="rect">
            <a:avLst/>
          </a:prstGeom>
          <a:noFill/>
          <a:ln/>
        </p:spPr>
        <p:txBody>
          <a:bodyPr wrap="square" lIns="0" tIns="0" rIns="0" bIns="0" rtlCol="0" anchor="t"/>
          <a:lstStyle/>
          <a:p>
            <a:pPr indent="0" marL="0">
              <a:buNone/>
            </a:pPr>
            <a:r>
              <a:rPr lang="en-US" sz="3700" b="1" dirty="0">
                <a:solidFill>
                  <a:srgbClr val="102A2E"/>
                </a:solidFill>
                <a:latin typeface="Aptos" pitchFamily="34" charset="0"/>
                <a:ea typeface="Aptos" pitchFamily="34" charset="-122"/>
                <a:cs typeface="Aptos" pitchFamily="34" charset="-120"/>
              </a:rPr>
              <a:t>Le point de départ :</a:t>
            </a:r>
            <a:endParaRPr lang="en-US" sz="3700" dirty="0"/>
          </a:p>
          <a:p>
            <a:pPr indent="0" marL="0">
              <a:buNone/>
            </a:pPr>
            <a:r>
              <a:rPr lang="en-US" sz="3700" b="1" dirty="0">
                <a:solidFill>
                  <a:srgbClr val="102A2E"/>
                </a:solidFill>
                <a:latin typeface="Aptos" pitchFamily="34" charset="0"/>
                <a:ea typeface="Aptos" pitchFamily="34" charset="-122"/>
                <a:cs typeface="Aptos" pitchFamily="34" charset="-120"/>
              </a:rPr>
              <a:t>la communauté.</a:t>
            </a:r>
            <a:endParaRPr lang="en-US" sz="3700" dirty="0"/>
          </a:p>
        </p:txBody>
      </p:sp>
      <p:sp>
        <p:nvSpPr>
          <p:cNvPr id="8" name="Shape 6"/>
          <p:cNvSpPr/>
          <p:nvPr/>
        </p:nvSpPr>
        <p:spPr>
          <a:xfrm>
            <a:off x="594360" y="2240280"/>
            <a:ext cx="10972800" cy="1280160"/>
          </a:xfrm>
          <a:prstGeom prst="roundRect">
            <a:avLst>
              <a:gd name="adj" fmla="val 10000"/>
            </a:avLst>
          </a:prstGeom>
          <a:solidFill>
            <a:srgbClr val="102A2E"/>
          </a:solidFill>
          <a:ln w="10160">
            <a:solidFill>
              <a:srgbClr val="102A2E"/>
            </a:solidFill>
            <a:prstDash val="solid"/>
          </a:ln>
        </p:spPr>
      </p:sp>
      <p:sp>
        <p:nvSpPr>
          <p:cNvPr id="9" name="Text 7"/>
          <p:cNvSpPr/>
          <p:nvPr/>
        </p:nvSpPr>
        <p:spPr>
          <a:xfrm>
            <a:off x="896112" y="2450592"/>
            <a:ext cx="10369296" cy="832104"/>
          </a:xfrm>
          <a:prstGeom prst="rect">
            <a:avLst/>
          </a:prstGeom>
          <a:noFill/>
          <a:ln/>
        </p:spPr>
        <p:txBody>
          <a:bodyPr wrap="square" lIns="0" tIns="0" rIns="0" bIns="0" rtlCol="0" anchor="ctr"/>
          <a:lstStyle/>
          <a:p>
            <a:pPr indent="0" marL="0">
              <a:buNone/>
            </a:pPr>
            <a:r>
              <a:rPr lang="en-US" sz="2500" b="1" dirty="0">
                <a:solidFill>
                  <a:srgbClr val="FFFFFF"/>
                </a:solidFill>
                <a:latin typeface="Aptos" pitchFamily="34" charset="0"/>
                <a:ea typeface="Aptos" pitchFamily="34" charset="-122"/>
                <a:cs typeface="Aptos" pitchFamily="34" charset="-120"/>
              </a:rPr>
              <a:t>« Une plateforme d'échange pour les développeurs,</a:t>
            </a:r>
            <a:endParaRPr lang="en-US" sz="2500" dirty="0"/>
          </a:p>
          <a:p>
            <a:pPr indent="0" marL="0">
              <a:buNone/>
            </a:pPr>
            <a:r>
              <a:rPr lang="en-US" sz="2500" b="1" dirty="0">
                <a:solidFill>
                  <a:srgbClr val="FFFFFF"/>
                </a:solidFill>
                <a:latin typeface="Aptos" pitchFamily="34" charset="0"/>
                <a:ea typeface="Aptos" pitchFamily="34" charset="-122"/>
                <a:cs typeface="Aptos" pitchFamily="34" charset="-120"/>
              </a:rPr>
              <a:t>par les développeurs et pour les développeurs. »</a:t>
            </a:r>
            <a:endParaRPr lang="en-US" sz="2500" dirty="0"/>
          </a:p>
        </p:txBody>
      </p:sp>
      <p:sp>
        <p:nvSpPr>
          <p:cNvPr id="10" name="Shape 8"/>
          <p:cNvSpPr/>
          <p:nvPr/>
        </p:nvSpPr>
        <p:spPr>
          <a:xfrm>
            <a:off x="594360" y="3977640"/>
            <a:ext cx="3474720" cy="1444752"/>
          </a:xfrm>
          <a:prstGeom prst="roundRect">
            <a:avLst>
              <a:gd name="adj" fmla="val 8861"/>
            </a:avLst>
          </a:prstGeom>
          <a:solidFill>
            <a:srgbClr val="FFFFFF"/>
          </a:solidFill>
          <a:ln w="10160">
            <a:solidFill>
              <a:srgbClr val="DCE5DF"/>
            </a:solidFill>
            <a:prstDash val="solid"/>
          </a:ln>
        </p:spPr>
      </p:sp>
      <p:sp>
        <p:nvSpPr>
          <p:cNvPr id="11" name="Text 9"/>
          <p:cNvSpPr/>
          <p:nvPr/>
        </p:nvSpPr>
        <p:spPr>
          <a:xfrm>
            <a:off x="795528" y="4169664"/>
            <a:ext cx="3054096" cy="347472"/>
          </a:xfrm>
          <a:prstGeom prst="rect">
            <a:avLst/>
          </a:prstGeom>
          <a:noFill/>
          <a:ln/>
        </p:spPr>
        <p:txBody>
          <a:bodyPr wrap="square" lIns="0" tIns="0" rIns="0" bIns="0" rtlCol="0" anchor="ctr"/>
          <a:lstStyle/>
          <a:p>
            <a:pPr indent="0" marL="0">
              <a:buNone/>
            </a:pPr>
            <a:r>
              <a:rPr lang="en-US" sz="2100" b="1" dirty="0">
                <a:solidFill>
                  <a:srgbClr val="087F73"/>
                </a:solidFill>
                <a:latin typeface="Aptos" pitchFamily="34" charset="0"/>
                <a:ea typeface="Aptos" pitchFamily="34" charset="-122"/>
                <a:cs typeface="Aptos" pitchFamily="34" charset="-120"/>
              </a:rPr>
              <a:t>Se retrouver</a:t>
            </a:r>
            <a:endParaRPr lang="en-US" sz="2100" dirty="0"/>
          </a:p>
        </p:txBody>
      </p:sp>
      <p:sp>
        <p:nvSpPr>
          <p:cNvPr id="12" name="Text 10"/>
          <p:cNvSpPr/>
          <p:nvPr/>
        </p:nvSpPr>
        <p:spPr>
          <a:xfrm>
            <a:off x="795528" y="4590288"/>
            <a:ext cx="3054096" cy="576072"/>
          </a:xfrm>
          <a:prstGeom prst="rect">
            <a:avLst/>
          </a:prstGeom>
          <a:noFill/>
          <a:ln/>
        </p:spPr>
        <p:txBody>
          <a:bodyPr wrap="square" lIns="0" tIns="0" rIns="0" bIns="0" rtlCol="0" anchor="ctr"/>
          <a:lstStyle/>
          <a:p>
            <a:pPr indent="0" marL="0">
              <a:buNone/>
            </a:pPr>
            <a:r>
              <a:rPr lang="en-US" sz="1900" dirty="0">
                <a:solidFill>
                  <a:srgbClr val="102A2E"/>
                </a:solidFill>
                <a:latin typeface="Aptos" pitchFamily="34" charset="0"/>
                <a:ea typeface="Aptos" pitchFamily="34" charset="-122"/>
                <a:cs typeface="Aptos" pitchFamily="34" charset="-120"/>
              </a:rPr>
              <a:t>Découvrir des personnes</a:t>
            </a:r>
            <a:endParaRPr lang="en-US" sz="1900" dirty="0"/>
          </a:p>
          <a:p>
            <a:pPr indent="0" marL="0">
              <a:buNone/>
            </a:pPr>
            <a:r>
              <a:rPr lang="en-US" sz="1900" dirty="0">
                <a:solidFill>
                  <a:srgbClr val="102A2E"/>
                </a:solidFill>
                <a:latin typeface="Aptos" pitchFamily="34" charset="0"/>
                <a:ea typeface="Aptos" pitchFamily="34" charset="-122"/>
                <a:cs typeface="Aptos" pitchFamily="34" charset="-120"/>
              </a:rPr>
              <a:t>et leurs projets.</a:t>
            </a:r>
            <a:endParaRPr lang="en-US" sz="1900" dirty="0"/>
          </a:p>
        </p:txBody>
      </p:sp>
      <p:sp>
        <p:nvSpPr>
          <p:cNvPr id="13" name="Shape 11"/>
          <p:cNvSpPr/>
          <p:nvPr/>
        </p:nvSpPr>
        <p:spPr>
          <a:xfrm>
            <a:off x="4343400" y="3977640"/>
            <a:ext cx="3474720" cy="1444752"/>
          </a:xfrm>
          <a:prstGeom prst="roundRect">
            <a:avLst>
              <a:gd name="adj" fmla="val 8861"/>
            </a:avLst>
          </a:prstGeom>
          <a:solidFill>
            <a:srgbClr val="FFFFFF"/>
          </a:solidFill>
          <a:ln w="10160">
            <a:solidFill>
              <a:srgbClr val="DCE5DF"/>
            </a:solidFill>
            <a:prstDash val="solid"/>
          </a:ln>
        </p:spPr>
      </p:sp>
      <p:sp>
        <p:nvSpPr>
          <p:cNvPr id="14" name="Text 12"/>
          <p:cNvSpPr/>
          <p:nvPr/>
        </p:nvSpPr>
        <p:spPr>
          <a:xfrm>
            <a:off x="4544568" y="4169664"/>
            <a:ext cx="3054096" cy="347472"/>
          </a:xfrm>
          <a:prstGeom prst="rect">
            <a:avLst/>
          </a:prstGeom>
          <a:noFill/>
          <a:ln/>
        </p:spPr>
        <p:txBody>
          <a:bodyPr wrap="square" lIns="0" tIns="0" rIns="0" bIns="0" rtlCol="0" anchor="ctr"/>
          <a:lstStyle/>
          <a:p>
            <a:pPr indent="0" marL="0">
              <a:buNone/>
            </a:pPr>
            <a:r>
              <a:rPr lang="en-US" sz="2100" b="1" dirty="0">
                <a:solidFill>
                  <a:srgbClr val="087F73"/>
                </a:solidFill>
                <a:latin typeface="Aptos" pitchFamily="34" charset="0"/>
                <a:ea typeface="Aptos" pitchFamily="34" charset="-122"/>
                <a:cs typeface="Aptos" pitchFamily="34" charset="-120"/>
              </a:rPr>
              <a:t>Échanger et apprendre</a:t>
            </a:r>
            <a:endParaRPr lang="en-US" sz="2100" dirty="0"/>
          </a:p>
        </p:txBody>
      </p:sp>
      <p:sp>
        <p:nvSpPr>
          <p:cNvPr id="15" name="Text 13"/>
          <p:cNvSpPr/>
          <p:nvPr/>
        </p:nvSpPr>
        <p:spPr>
          <a:xfrm>
            <a:off x="4544568" y="4590288"/>
            <a:ext cx="3054096" cy="576072"/>
          </a:xfrm>
          <a:prstGeom prst="rect">
            <a:avLst/>
          </a:prstGeom>
          <a:noFill/>
          <a:ln/>
        </p:spPr>
        <p:txBody>
          <a:bodyPr wrap="square" lIns="0" tIns="0" rIns="0" bIns="0" rtlCol="0" anchor="ctr"/>
          <a:lstStyle/>
          <a:p>
            <a:pPr indent="0" marL="0">
              <a:buNone/>
            </a:pPr>
            <a:r>
              <a:rPr lang="en-US" sz="1900" dirty="0">
                <a:solidFill>
                  <a:srgbClr val="102A2E"/>
                </a:solidFill>
                <a:latin typeface="Aptos" pitchFamily="34" charset="0"/>
                <a:ea typeface="Aptos" pitchFamily="34" charset="-122"/>
                <a:cs typeface="Aptos" pitchFamily="34" charset="-120"/>
              </a:rPr>
              <a:t>Poser des questions,</a:t>
            </a:r>
            <a:endParaRPr lang="en-US" sz="1900" dirty="0"/>
          </a:p>
          <a:p>
            <a:pPr indent="0" marL="0">
              <a:buNone/>
            </a:pPr>
            <a:r>
              <a:rPr lang="en-US" sz="1900" dirty="0">
                <a:solidFill>
                  <a:srgbClr val="102A2E"/>
                </a:solidFill>
                <a:latin typeface="Aptos" pitchFamily="34" charset="0"/>
                <a:ea typeface="Aptos" pitchFamily="34" charset="-122"/>
                <a:cs typeface="Aptos" pitchFamily="34" charset="-120"/>
              </a:rPr>
              <a:t>partager des connaissances.</a:t>
            </a:r>
            <a:endParaRPr lang="en-US" sz="1900" dirty="0"/>
          </a:p>
        </p:txBody>
      </p:sp>
      <p:sp>
        <p:nvSpPr>
          <p:cNvPr id="16" name="Shape 14"/>
          <p:cNvSpPr/>
          <p:nvPr/>
        </p:nvSpPr>
        <p:spPr>
          <a:xfrm>
            <a:off x="8092440" y="3977640"/>
            <a:ext cx="3474720" cy="1444752"/>
          </a:xfrm>
          <a:prstGeom prst="roundRect">
            <a:avLst>
              <a:gd name="adj" fmla="val 8861"/>
            </a:avLst>
          </a:prstGeom>
          <a:solidFill>
            <a:srgbClr val="FFFFFF"/>
          </a:solidFill>
          <a:ln w="10160">
            <a:solidFill>
              <a:srgbClr val="DCE5DF"/>
            </a:solidFill>
            <a:prstDash val="solid"/>
          </a:ln>
        </p:spPr>
      </p:sp>
      <p:sp>
        <p:nvSpPr>
          <p:cNvPr id="17" name="Text 15"/>
          <p:cNvSpPr/>
          <p:nvPr/>
        </p:nvSpPr>
        <p:spPr>
          <a:xfrm>
            <a:off x="8293608" y="4169664"/>
            <a:ext cx="3054096" cy="347472"/>
          </a:xfrm>
          <a:prstGeom prst="rect">
            <a:avLst/>
          </a:prstGeom>
          <a:noFill/>
          <a:ln/>
        </p:spPr>
        <p:txBody>
          <a:bodyPr wrap="square" lIns="0" tIns="0" rIns="0" bIns="0" rtlCol="0" anchor="ctr"/>
          <a:lstStyle/>
          <a:p>
            <a:pPr indent="0" marL="0">
              <a:buNone/>
            </a:pPr>
            <a:r>
              <a:rPr lang="en-US" sz="2100" b="1" dirty="0">
                <a:solidFill>
                  <a:srgbClr val="087F73"/>
                </a:solidFill>
                <a:latin typeface="Aptos" pitchFamily="34" charset="0"/>
                <a:ea typeface="Aptos" pitchFamily="34" charset="-122"/>
                <a:cs typeface="Aptos" pitchFamily="34" charset="-120"/>
              </a:rPr>
              <a:t>Construire ensemble</a:t>
            </a:r>
            <a:endParaRPr lang="en-US" sz="2100" dirty="0"/>
          </a:p>
        </p:txBody>
      </p:sp>
      <p:sp>
        <p:nvSpPr>
          <p:cNvPr id="18" name="Text 16"/>
          <p:cNvSpPr/>
          <p:nvPr/>
        </p:nvSpPr>
        <p:spPr>
          <a:xfrm>
            <a:off x="8293608" y="4590288"/>
            <a:ext cx="3054096" cy="576072"/>
          </a:xfrm>
          <a:prstGeom prst="rect">
            <a:avLst/>
          </a:prstGeom>
          <a:noFill/>
          <a:ln/>
        </p:spPr>
        <p:txBody>
          <a:bodyPr wrap="square" lIns="0" tIns="0" rIns="0" bIns="0" rtlCol="0" anchor="ctr"/>
          <a:lstStyle/>
          <a:p>
            <a:pPr indent="0" marL="0">
              <a:buNone/>
            </a:pPr>
            <a:r>
              <a:rPr lang="en-US" sz="1900" dirty="0">
                <a:solidFill>
                  <a:srgbClr val="102A2E"/>
                </a:solidFill>
                <a:latin typeface="Aptos" pitchFamily="34" charset="0"/>
                <a:ea typeface="Aptos" pitchFamily="34" charset="-122"/>
                <a:cs typeface="Aptos" pitchFamily="34" charset="-120"/>
              </a:rPr>
              <a:t>Collaborer autour</a:t>
            </a:r>
            <a:endParaRPr lang="en-US" sz="1900" dirty="0"/>
          </a:p>
          <a:p>
            <a:pPr indent="0" marL="0">
              <a:buNone/>
            </a:pPr>
            <a:r>
              <a:rPr lang="en-US" sz="1900" dirty="0">
                <a:solidFill>
                  <a:srgbClr val="102A2E"/>
                </a:solidFill>
                <a:latin typeface="Aptos" pitchFamily="34" charset="0"/>
                <a:ea typeface="Aptos" pitchFamily="34" charset="-122"/>
                <a:cs typeface="Aptos" pitchFamily="34" charset="-120"/>
              </a:rPr>
              <a:t>de besoins concrets.</a:t>
            </a:r>
            <a:endParaRPr lang="en-US" sz="1900" dirty="0"/>
          </a:p>
        </p:txBody>
      </p:sp>
      <p:sp>
        <p:nvSpPr>
          <p:cNvPr id="19" name="Text 17"/>
          <p:cNvSpPr/>
          <p:nvPr/>
        </p:nvSpPr>
        <p:spPr>
          <a:xfrm>
            <a:off x="630936" y="5806440"/>
            <a:ext cx="10881360" cy="292608"/>
          </a:xfrm>
          <a:prstGeom prst="rect">
            <a:avLst/>
          </a:prstGeom>
          <a:noFill/>
          <a:ln/>
        </p:spPr>
        <p:txBody>
          <a:bodyPr wrap="square" lIns="0" tIns="0" rIns="0" bIns="0" rtlCol="0" anchor="ctr"/>
          <a:lstStyle/>
          <a:p>
            <a:pPr indent="0" marL="0">
              <a:buNone/>
            </a:pPr>
            <a:r>
              <a:rPr lang="en-US" sz="1250" dirty="0">
                <a:solidFill>
                  <a:srgbClr val="486064"/>
                </a:solidFill>
                <a:latin typeface="Aptos" pitchFamily="34" charset="0"/>
                <a:ea typeface="Aptos" pitchFamily="34" charset="-122"/>
                <a:cs typeface="Aptos" pitchFamily="34" charset="-120"/>
              </a:rPr>
              <a:t>Usages exprimés dans le mail ; leur mise en œuvre reste au choix des équipes.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LA RÉPONSE DE HAAS</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03</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Tout part d’un projet</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ou d’une question.</a:t>
            </a:r>
            <a:endParaRPr lang="en-US" sz="3500" dirty="0"/>
          </a:p>
        </p:txBody>
      </p:sp>
      <p:sp>
        <p:nvSpPr>
          <p:cNvPr id="8" name="Shape 6"/>
          <p:cNvSpPr/>
          <p:nvPr/>
        </p:nvSpPr>
        <p:spPr>
          <a:xfrm>
            <a:off x="594360" y="2468880"/>
            <a:ext cx="3474720" cy="2880360"/>
          </a:xfrm>
          <a:prstGeom prst="roundRect">
            <a:avLst>
              <a:gd name="adj" fmla="val 4444"/>
            </a:avLst>
          </a:prstGeom>
          <a:solidFill>
            <a:srgbClr val="FFFFFF"/>
          </a:solidFill>
          <a:ln w="10160">
            <a:solidFill>
              <a:srgbClr val="DCE5DF"/>
            </a:solidFill>
            <a:prstDash val="solid"/>
          </a:ln>
        </p:spPr>
      </p:sp>
      <p:sp>
        <p:nvSpPr>
          <p:cNvPr id="9" name="Text 7"/>
          <p:cNvSpPr/>
          <p:nvPr/>
        </p:nvSpPr>
        <p:spPr>
          <a:xfrm>
            <a:off x="822960" y="2706624"/>
            <a:ext cx="594360" cy="365760"/>
          </a:xfrm>
          <a:prstGeom prst="rect">
            <a:avLst/>
          </a:prstGeom>
          <a:noFill/>
          <a:ln/>
        </p:spPr>
        <p:txBody>
          <a:bodyPr wrap="square" lIns="0" tIns="0" rIns="0" bIns="0" rtlCol="0" anchor="ctr"/>
          <a:lstStyle/>
          <a:p>
            <a:pPr indent="0" marL="0">
              <a:buNone/>
            </a:pPr>
            <a:r>
              <a:rPr lang="en-US" sz="2600" b="1" dirty="0">
                <a:solidFill>
                  <a:srgbClr val="087F73"/>
                </a:solidFill>
                <a:latin typeface="Aptos" pitchFamily="34" charset="0"/>
                <a:ea typeface="Aptos" pitchFamily="34" charset="-122"/>
                <a:cs typeface="Aptos" pitchFamily="34" charset="-120"/>
              </a:rPr>
              <a:t>01</a:t>
            </a:r>
            <a:endParaRPr lang="en-US" sz="2600" dirty="0"/>
          </a:p>
        </p:txBody>
      </p:sp>
      <p:sp>
        <p:nvSpPr>
          <p:cNvPr id="10" name="Text 8"/>
          <p:cNvSpPr/>
          <p:nvPr/>
        </p:nvSpPr>
        <p:spPr>
          <a:xfrm>
            <a:off x="822960" y="3310128"/>
            <a:ext cx="3017520" cy="420624"/>
          </a:xfrm>
          <a:prstGeom prst="rect">
            <a:avLst/>
          </a:prstGeom>
          <a:noFill/>
          <a:ln/>
        </p:spPr>
        <p:txBody>
          <a:bodyPr wrap="square" lIns="0" tIns="0" rIns="0" bIns="0" rtlCol="0" anchor="ctr"/>
          <a:lstStyle/>
          <a:p>
            <a:pPr indent="0" marL="0">
              <a:buNone/>
            </a:pPr>
            <a:r>
              <a:rPr lang="en-US" sz="2800" b="1" dirty="0">
                <a:solidFill>
                  <a:srgbClr val="102A2E"/>
                </a:solidFill>
                <a:latin typeface="Aptos" pitchFamily="34" charset="0"/>
                <a:ea typeface="Aptos" pitchFamily="34" charset="-122"/>
                <a:cs typeface="Aptos" pitchFamily="34" charset="-120"/>
              </a:rPr>
              <a:t>Découvrir</a:t>
            </a:r>
            <a:endParaRPr lang="en-US" sz="2800" dirty="0"/>
          </a:p>
        </p:txBody>
      </p:sp>
      <p:sp>
        <p:nvSpPr>
          <p:cNvPr id="11" name="Text 9"/>
          <p:cNvSpPr/>
          <p:nvPr/>
        </p:nvSpPr>
        <p:spPr>
          <a:xfrm>
            <a:off x="822960" y="3886200"/>
            <a:ext cx="3017520" cy="832104"/>
          </a:xfrm>
          <a:prstGeom prst="rect">
            <a:avLst/>
          </a:prstGeom>
          <a:noFill/>
          <a:ln/>
        </p:spPr>
        <p:txBody>
          <a:bodyPr wrap="square" lIns="0" tIns="0" rIns="0" bIns="0" rtlCol="0" anchor="ctr"/>
          <a:lstStyle/>
          <a:p>
            <a:pPr indent="0" marL="0">
              <a:buNone/>
            </a:pPr>
            <a:r>
              <a:rPr lang="en-US" sz="2100" dirty="0">
                <a:solidFill>
                  <a:srgbClr val="486064"/>
                </a:solidFill>
                <a:latin typeface="Aptos" pitchFamily="34" charset="0"/>
                <a:ea typeface="Aptos" pitchFamily="34" charset="-122"/>
                <a:cs typeface="Aptos" pitchFamily="34" charset="-120"/>
              </a:rPr>
              <a:t>Un projet intéressant.</a:t>
            </a:r>
            <a:endParaRPr lang="en-US" sz="2100" dirty="0"/>
          </a:p>
          <a:p>
            <a:pPr indent="0" marL="0">
              <a:buNone/>
            </a:pPr>
            <a:r>
              <a:rPr lang="en-US" sz="2100" dirty="0">
                <a:solidFill>
                  <a:srgbClr val="486064"/>
                </a:solidFill>
                <a:latin typeface="Aptos" pitchFamily="34" charset="0"/>
                <a:ea typeface="Aptos" pitchFamily="34" charset="-122"/>
                <a:cs typeface="Aptos" pitchFamily="34" charset="-120"/>
              </a:rPr>
              <a:t>Un besoin bien défini.</a:t>
            </a:r>
            <a:endParaRPr lang="en-US" sz="2100" dirty="0"/>
          </a:p>
        </p:txBody>
      </p:sp>
      <p:sp>
        <p:nvSpPr>
          <p:cNvPr id="12" name="Shape 10"/>
          <p:cNvSpPr/>
          <p:nvPr/>
        </p:nvSpPr>
        <p:spPr>
          <a:xfrm>
            <a:off x="822960" y="4818888"/>
            <a:ext cx="2971800" cy="329184"/>
          </a:xfrm>
          <a:prstGeom prst="roundRect">
            <a:avLst>
              <a:gd name="adj" fmla="val 38889"/>
            </a:avLst>
          </a:prstGeom>
          <a:solidFill>
            <a:srgbClr val="BFE8D5"/>
          </a:solidFill>
          <a:ln w="10160">
            <a:solidFill>
              <a:srgbClr val="BFE8D5"/>
            </a:solidFill>
            <a:prstDash val="solid"/>
          </a:ln>
        </p:spPr>
      </p:sp>
      <p:sp>
        <p:nvSpPr>
          <p:cNvPr id="13" name="Text 11"/>
          <p:cNvSpPr/>
          <p:nvPr/>
        </p:nvSpPr>
        <p:spPr>
          <a:xfrm>
            <a:off x="932688" y="4837176"/>
            <a:ext cx="275234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PROJETS &amp; PERSONNES</a:t>
            </a:r>
            <a:endParaRPr lang="en-US" sz="1150" dirty="0"/>
          </a:p>
        </p:txBody>
      </p:sp>
      <p:sp>
        <p:nvSpPr>
          <p:cNvPr id="14" name="Shape 12"/>
          <p:cNvSpPr/>
          <p:nvPr/>
        </p:nvSpPr>
        <p:spPr>
          <a:xfrm>
            <a:off x="4343400" y="2468880"/>
            <a:ext cx="3474720" cy="2880360"/>
          </a:xfrm>
          <a:prstGeom prst="roundRect">
            <a:avLst>
              <a:gd name="adj" fmla="val 4444"/>
            </a:avLst>
          </a:prstGeom>
          <a:solidFill>
            <a:srgbClr val="FFFFFF"/>
          </a:solidFill>
          <a:ln w="10160">
            <a:solidFill>
              <a:srgbClr val="DCE5DF"/>
            </a:solidFill>
            <a:prstDash val="solid"/>
          </a:ln>
        </p:spPr>
      </p:sp>
      <p:sp>
        <p:nvSpPr>
          <p:cNvPr id="15" name="Text 13"/>
          <p:cNvSpPr/>
          <p:nvPr/>
        </p:nvSpPr>
        <p:spPr>
          <a:xfrm>
            <a:off x="4572000" y="2706624"/>
            <a:ext cx="594360" cy="365760"/>
          </a:xfrm>
          <a:prstGeom prst="rect">
            <a:avLst/>
          </a:prstGeom>
          <a:noFill/>
          <a:ln/>
        </p:spPr>
        <p:txBody>
          <a:bodyPr wrap="square" lIns="0" tIns="0" rIns="0" bIns="0" rtlCol="0" anchor="ctr"/>
          <a:lstStyle/>
          <a:p>
            <a:pPr indent="0" marL="0">
              <a:buNone/>
            </a:pPr>
            <a:r>
              <a:rPr lang="en-US" sz="2600" b="1" dirty="0">
                <a:solidFill>
                  <a:srgbClr val="087F73"/>
                </a:solidFill>
                <a:latin typeface="Aptos" pitchFamily="34" charset="0"/>
                <a:ea typeface="Aptos" pitchFamily="34" charset="-122"/>
                <a:cs typeface="Aptos" pitchFamily="34" charset="-120"/>
              </a:rPr>
              <a:t>02</a:t>
            </a:r>
            <a:endParaRPr lang="en-US" sz="2600" dirty="0"/>
          </a:p>
        </p:txBody>
      </p:sp>
      <p:sp>
        <p:nvSpPr>
          <p:cNvPr id="16" name="Text 14"/>
          <p:cNvSpPr/>
          <p:nvPr/>
        </p:nvSpPr>
        <p:spPr>
          <a:xfrm>
            <a:off x="4572000" y="3310128"/>
            <a:ext cx="3017520" cy="420624"/>
          </a:xfrm>
          <a:prstGeom prst="rect">
            <a:avLst/>
          </a:prstGeom>
          <a:noFill/>
          <a:ln/>
        </p:spPr>
        <p:txBody>
          <a:bodyPr wrap="square" lIns="0" tIns="0" rIns="0" bIns="0" rtlCol="0" anchor="ctr"/>
          <a:lstStyle/>
          <a:p>
            <a:pPr indent="0" marL="0">
              <a:buNone/>
            </a:pPr>
            <a:r>
              <a:rPr lang="en-US" sz="2800" b="1" dirty="0">
                <a:solidFill>
                  <a:srgbClr val="102A2E"/>
                </a:solidFill>
                <a:latin typeface="Aptos" pitchFamily="34" charset="0"/>
                <a:ea typeface="Aptos" pitchFamily="34" charset="-122"/>
                <a:cs typeface="Aptos" pitchFamily="34" charset="-120"/>
              </a:rPr>
              <a:t>Proposer</a:t>
            </a:r>
            <a:endParaRPr lang="en-US" sz="2800" dirty="0"/>
          </a:p>
        </p:txBody>
      </p:sp>
      <p:sp>
        <p:nvSpPr>
          <p:cNvPr id="17" name="Text 15"/>
          <p:cNvSpPr/>
          <p:nvPr/>
        </p:nvSpPr>
        <p:spPr>
          <a:xfrm>
            <a:off x="4572000" y="3886200"/>
            <a:ext cx="3017520" cy="832104"/>
          </a:xfrm>
          <a:prstGeom prst="rect">
            <a:avLst/>
          </a:prstGeom>
          <a:noFill/>
          <a:ln/>
        </p:spPr>
        <p:txBody>
          <a:bodyPr wrap="square" lIns="0" tIns="0" rIns="0" bIns="0" rtlCol="0" anchor="ctr"/>
          <a:lstStyle/>
          <a:p>
            <a:pPr indent="0" marL="0">
              <a:buNone/>
            </a:pPr>
            <a:r>
              <a:rPr lang="en-US" sz="2100" dirty="0">
                <a:solidFill>
                  <a:srgbClr val="486064"/>
                </a:solidFill>
                <a:latin typeface="Aptos" pitchFamily="34" charset="0"/>
                <a:ea typeface="Aptos" pitchFamily="34" charset="-122"/>
                <a:cs typeface="Aptos" pitchFamily="34" charset="-120"/>
              </a:rPr>
              <a:t>Un petit coup de main.</a:t>
            </a:r>
            <a:endParaRPr lang="en-US" sz="2100" dirty="0"/>
          </a:p>
          <a:p>
            <a:pPr indent="0" marL="0">
              <a:buNone/>
            </a:pPr>
            <a:r>
              <a:rPr lang="en-US" sz="2100" dirty="0">
                <a:solidFill>
                  <a:srgbClr val="486064"/>
                </a:solidFill>
                <a:latin typeface="Aptos" pitchFamily="34" charset="0"/>
                <a:ea typeface="Aptos" pitchFamily="34" charset="-122"/>
                <a:cs typeface="Aptos" pitchFamily="34" charset="-120"/>
              </a:rPr>
              <a:t>Un accord volontaire.</a:t>
            </a:r>
            <a:endParaRPr lang="en-US" sz="2100" dirty="0"/>
          </a:p>
        </p:txBody>
      </p:sp>
      <p:sp>
        <p:nvSpPr>
          <p:cNvPr id="18" name="Shape 16"/>
          <p:cNvSpPr/>
          <p:nvPr/>
        </p:nvSpPr>
        <p:spPr>
          <a:xfrm>
            <a:off x="4572000" y="4818888"/>
            <a:ext cx="2971800" cy="329184"/>
          </a:xfrm>
          <a:prstGeom prst="roundRect">
            <a:avLst>
              <a:gd name="adj" fmla="val 38889"/>
            </a:avLst>
          </a:prstGeom>
          <a:solidFill>
            <a:srgbClr val="BFE8D5"/>
          </a:solidFill>
          <a:ln w="10160">
            <a:solidFill>
              <a:srgbClr val="BFE8D5"/>
            </a:solidFill>
            <a:prstDash val="solid"/>
          </a:ln>
        </p:spPr>
      </p:sp>
      <p:sp>
        <p:nvSpPr>
          <p:cNvPr id="19" name="Text 17"/>
          <p:cNvSpPr/>
          <p:nvPr/>
        </p:nvSpPr>
        <p:spPr>
          <a:xfrm>
            <a:off x="4681728" y="4837176"/>
            <a:ext cx="275234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RENCONTRER</a:t>
            </a:r>
            <a:endParaRPr lang="en-US" sz="1150" dirty="0"/>
          </a:p>
        </p:txBody>
      </p:sp>
      <p:sp>
        <p:nvSpPr>
          <p:cNvPr id="20" name="Shape 18"/>
          <p:cNvSpPr/>
          <p:nvPr/>
        </p:nvSpPr>
        <p:spPr>
          <a:xfrm>
            <a:off x="8092440" y="2468880"/>
            <a:ext cx="3474720" cy="2880360"/>
          </a:xfrm>
          <a:prstGeom prst="roundRect">
            <a:avLst>
              <a:gd name="adj" fmla="val 4444"/>
            </a:avLst>
          </a:prstGeom>
          <a:solidFill>
            <a:srgbClr val="FFFFFF"/>
          </a:solidFill>
          <a:ln w="10160">
            <a:solidFill>
              <a:srgbClr val="DCE5DF"/>
            </a:solidFill>
            <a:prstDash val="solid"/>
          </a:ln>
        </p:spPr>
      </p:sp>
      <p:sp>
        <p:nvSpPr>
          <p:cNvPr id="21" name="Text 19"/>
          <p:cNvSpPr/>
          <p:nvPr/>
        </p:nvSpPr>
        <p:spPr>
          <a:xfrm>
            <a:off x="8321040" y="2706624"/>
            <a:ext cx="594360" cy="365760"/>
          </a:xfrm>
          <a:prstGeom prst="rect">
            <a:avLst/>
          </a:prstGeom>
          <a:noFill/>
          <a:ln/>
        </p:spPr>
        <p:txBody>
          <a:bodyPr wrap="square" lIns="0" tIns="0" rIns="0" bIns="0" rtlCol="0" anchor="ctr"/>
          <a:lstStyle/>
          <a:p>
            <a:pPr indent="0" marL="0">
              <a:buNone/>
            </a:pPr>
            <a:r>
              <a:rPr lang="en-US" sz="2600" b="1" dirty="0">
                <a:solidFill>
                  <a:srgbClr val="087F73"/>
                </a:solidFill>
                <a:latin typeface="Aptos" pitchFamily="34" charset="0"/>
                <a:ea typeface="Aptos" pitchFamily="34" charset="-122"/>
                <a:cs typeface="Aptos" pitchFamily="34" charset="-120"/>
              </a:rPr>
              <a:t>03</a:t>
            </a:r>
            <a:endParaRPr lang="en-US" sz="2600" dirty="0"/>
          </a:p>
        </p:txBody>
      </p:sp>
      <p:sp>
        <p:nvSpPr>
          <p:cNvPr id="22" name="Text 20"/>
          <p:cNvSpPr/>
          <p:nvPr/>
        </p:nvSpPr>
        <p:spPr>
          <a:xfrm>
            <a:off x="8321040" y="3310128"/>
            <a:ext cx="3017520" cy="420624"/>
          </a:xfrm>
          <a:prstGeom prst="rect">
            <a:avLst/>
          </a:prstGeom>
          <a:noFill/>
          <a:ln/>
        </p:spPr>
        <p:txBody>
          <a:bodyPr wrap="square" lIns="0" tIns="0" rIns="0" bIns="0" rtlCol="0" anchor="ctr"/>
          <a:lstStyle/>
          <a:p>
            <a:pPr indent="0" marL="0">
              <a:buNone/>
            </a:pPr>
            <a:r>
              <a:rPr lang="en-US" sz="2800" b="1" dirty="0">
                <a:solidFill>
                  <a:srgbClr val="102A2E"/>
                </a:solidFill>
                <a:latin typeface="Aptos" pitchFamily="34" charset="0"/>
                <a:ea typeface="Aptos" pitchFamily="34" charset="-122"/>
                <a:cs typeface="Aptos" pitchFamily="34" charset="-120"/>
              </a:rPr>
              <a:t>Construire</a:t>
            </a:r>
            <a:endParaRPr lang="en-US" sz="2800" dirty="0"/>
          </a:p>
        </p:txBody>
      </p:sp>
      <p:sp>
        <p:nvSpPr>
          <p:cNvPr id="23" name="Text 21"/>
          <p:cNvSpPr/>
          <p:nvPr/>
        </p:nvSpPr>
        <p:spPr>
          <a:xfrm>
            <a:off x="8321040" y="3886200"/>
            <a:ext cx="3017520" cy="832104"/>
          </a:xfrm>
          <a:prstGeom prst="rect">
            <a:avLst/>
          </a:prstGeom>
          <a:noFill/>
          <a:ln/>
        </p:spPr>
        <p:txBody>
          <a:bodyPr wrap="square" lIns="0" tIns="0" rIns="0" bIns="0" rtlCol="0" anchor="ctr"/>
          <a:lstStyle/>
          <a:p>
            <a:pPr indent="0" marL="0">
              <a:buNone/>
            </a:pPr>
            <a:r>
              <a:rPr lang="en-US" sz="2100" dirty="0">
                <a:solidFill>
                  <a:srgbClr val="486064"/>
                </a:solidFill>
                <a:latin typeface="Aptos" pitchFamily="34" charset="0"/>
                <a:ea typeface="Aptos" pitchFamily="34" charset="-122"/>
                <a:cs typeface="Aptos" pitchFamily="34" charset="-120"/>
              </a:rPr>
              <a:t>Un échange utile.</a:t>
            </a:r>
            <a:endParaRPr lang="en-US" sz="2100" dirty="0"/>
          </a:p>
          <a:p>
            <a:pPr indent="0" marL="0">
              <a:buNone/>
            </a:pPr>
            <a:r>
              <a:rPr lang="en-US" sz="2100" dirty="0">
                <a:solidFill>
                  <a:srgbClr val="486064"/>
                </a:solidFill>
                <a:latin typeface="Aptos" pitchFamily="34" charset="0"/>
                <a:ea typeface="Aptos" pitchFamily="34" charset="-122"/>
                <a:cs typeface="Aptos" pitchFamily="34" charset="-120"/>
              </a:rPr>
              <a:t>Un résultat documenté.</a:t>
            </a:r>
            <a:endParaRPr lang="en-US" sz="2100" dirty="0"/>
          </a:p>
        </p:txBody>
      </p:sp>
      <p:sp>
        <p:nvSpPr>
          <p:cNvPr id="24" name="Shape 22"/>
          <p:cNvSpPr/>
          <p:nvPr/>
        </p:nvSpPr>
        <p:spPr>
          <a:xfrm>
            <a:off x="8321040" y="4818888"/>
            <a:ext cx="2971800" cy="329184"/>
          </a:xfrm>
          <a:prstGeom prst="roundRect">
            <a:avLst>
              <a:gd name="adj" fmla="val 38889"/>
            </a:avLst>
          </a:prstGeom>
          <a:solidFill>
            <a:srgbClr val="BFE8D5"/>
          </a:solidFill>
          <a:ln w="10160">
            <a:solidFill>
              <a:srgbClr val="BFE8D5"/>
            </a:solidFill>
            <a:prstDash val="solid"/>
          </a:ln>
        </p:spPr>
      </p:sp>
      <p:sp>
        <p:nvSpPr>
          <p:cNvPr id="25" name="Text 23"/>
          <p:cNvSpPr/>
          <p:nvPr/>
        </p:nvSpPr>
        <p:spPr>
          <a:xfrm>
            <a:off x="8430768" y="4837176"/>
            <a:ext cx="275234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CONTRIBUER &amp; PARTAGER</a:t>
            </a:r>
            <a:endParaRPr lang="en-US" sz="1150" dirty="0"/>
          </a:p>
        </p:txBody>
      </p:sp>
      <p:sp>
        <p:nvSpPr>
          <p:cNvPr id="26" name="Text 24"/>
          <p:cNvSpPr/>
          <p:nvPr/>
        </p:nvSpPr>
        <p:spPr>
          <a:xfrm>
            <a:off x="640080" y="5779008"/>
            <a:ext cx="10881360" cy="320040"/>
          </a:xfrm>
          <a:prstGeom prst="rect">
            <a:avLst/>
          </a:prstGeom>
          <a:noFill/>
          <a:ln/>
        </p:spPr>
        <p:txBody>
          <a:bodyPr wrap="square" lIns="0" tIns="0" rIns="0" bIns="0" rtlCol="0" anchor="ctr"/>
          <a:lstStyle/>
          <a:p>
            <a:pPr indent="0" marL="0">
              <a:buNone/>
            </a:pPr>
            <a:r>
              <a:rPr lang="en-US" sz="1600" dirty="0">
                <a:solidFill>
                  <a:srgbClr val="486064"/>
                </a:solidFill>
                <a:latin typeface="Aptos" pitchFamily="34" charset="0"/>
                <a:ea typeface="Aptos" pitchFamily="34" charset="-122"/>
                <a:cs typeface="Aptos" pitchFamily="34" charset="-120"/>
              </a:rPr>
              <a:t>Ni code obligatoire pour poser une question, ni laboratoire imposé pour participer.</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DÉCOUVRIR ET PARTICIPER</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04</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Trouver un point d’entrée</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pour aider.</a:t>
            </a:r>
            <a:endParaRPr lang="en-US" sz="3500" dirty="0"/>
          </a:p>
        </p:txBody>
      </p:sp>
      <p:sp>
        <p:nvSpPr>
          <p:cNvPr id="8" name="Shape 6"/>
          <p:cNvSpPr/>
          <p:nvPr/>
        </p:nvSpPr>
        <p:spPr>
          <a:xfrm>
            <a:off x="594360" y="2386584"/>
            <a:ext cx="6656832" cy="3300984"/>
          </a:xfrm>
          <a:prstGeom prst="roundRect">
            <a:avLst>
              <a:gd name="adj" fmla="val 3878"/>
            </a:avLst>
          </a:prstGeom>
          <a:solidFill>
            <a:srgbClr val="FFFFFF"/>
          </a:solidFill>
          <a:ln w="10160">
            <a:solidFill>
              <a:srgbClr val="DCE5DF"/>
            </a:solidFill>
            <a:prstDash val="solid"/>
          </a:ln>
        </p:spPr>
      </p:sp>
      <p:sp>
        <p:nvSpPr>
          <p:cNvPr id="9" name="Shape 7"/>
          <p:cNvSpPr/>
          <p:nvPr/>
        </p:nvSpPr>
        <p:spPr>
          <a:xfrm>
            <a:off x="850392" y="2633472"/>
            <a:ext cx="2953512" cy="329184"/>
          </a:xfrm>
          <a:prstGeom prst="roundRect">
            <a:avLst>
              <a:gd name="adj" fmla="val 38889"/>
            </a:avLst>
          </a:prstGeom>
          <a:solidFill>
            <a:srgbClr val="BFE8D5"/>
          </a:solidFill>
          <a:ln w="10160">
            <a:solidFill>
              <a:srgbClr val="BFE8D5"/>
            </a:solidFill>
            <a:prstDash val="solid"/>
          </a:ln>
        </p:spPr>
      </p:sp>
      <p:sp>
        <p:nvSpPr>
          <p:cNvPr id="10" name="Text 8"/>
          <p:cNvSpPr/>
          <p:nvPr/>
        </p:nvSpPr>
        <p:spPr>
          <a:xfrm>
            <a:off x="960120" y="2651760"/>
            <a:ext cx="273405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PROJET · EXEMPLE FICTIF</a:t>
            </a:r>
            <a:endParaRPr lang="en-US" sz="1150" dirty="0"/>
          </a:p>
        </p:txBody>
      </p:sp>
      <p:sp>
        <p:nvSpPr>
          <p:cNvPr id="11" name="Text 9"/>
          <p:cNvSpPr/>
          <p:nvPr/>
        </p:nvSpPr>
        <p:spPr>
          <a:xfrm>
            <a:off x="868680" y="3154680"/>
            <a:ext cx="6007608" cy="512064"/>
          </a:xfrm>
          <a:prstGeom prst="rect">
            <a:avLst/>
          </a:prstGeom>
          <a:noFill/>
          <a:ln/>
        </p:spPr>
        <p:txBody>
          <a:bodyPr wrap="square" lIns="0" tIns="0" rIns="0" bIns="0" rtlCol="0" anchor="ctr"/>
          <a:lstStyle/>
          <a:p>
            <a:pPr indent="0" marL="0">
              <a:buNone/>
            </a:pPr>
            <a:r>
              <a:rPr lang="en-US" sz="3000" b="1" dirty="0">
                <a:solidFill>
                  <a:srgbClr val="102A2E"/>
                </a:solidFill>
                <a:latin typeface="Aptos" pitchFamily="34" charset="0"/>
                <a:ea typeface="Aptos" pitchFamily="34" charset="-122"/>
                <a:cs typeface="Aptos" pitchFamily="34" charset="-120"/>
              </a:rPr>
              <a:t>Commande Facile</a:t>
            </a:r>
            <a:endParaRPr lang="en-US" sz="3000" dirty="0"/>
          </a:p>
        </p:txBody>
      </p:sp>
      <p:sp>
        <p:nvSpPr>
          <p:cNvPr id="12" name="Text 10"/>
          <p:cNvSpPr/>
          <p:nvPr/>
        </p:nvSpPr>
        <p:spPr>
          <a:xfrm>
            <a:off x="868680" y="3749040"/>
            <a:ext cx="5943600" cy="338328"/>
          </a:xfrm>
          <a:prstGeom prst="rect">
            <a:avLst/>
          </a:prstGeom>
          <a:noFill/>
          <a:ln/>
        </p:spPr>
        <p:txBody>
          <a:bodyPr wrap="square" lIns="0" tIns="0" rIns="0" bIns="0" rtlCol="0" anchor="ctr"/>
          <a:lstStyle/>
          <a:p>
            <a:pPr indent="0" marL="0">
              <a:buNone/>
            </a:pPr>
            <a:r>
              <a:rPr lang="en-US" sz="1900" dirty="0">
                <a:solidFill>
                  <a:srgbClr val="486064"/>
                </a:solidFill>
                <a:latin typeface="Aptos" pitchFamily="34" charset="0"/>
                <a:ea typeface="Aptos" pitchFamily="34" charset="-122"/>
                <a:cs typeface="Aptos" pitchFamily="34" charset="-120"/>
              </a:rPr>
              <a:t>Une application de prise de commandes.</a:t>
            </a:r>
            <a:endParaRPr lang="en-US" sz="1900" dirty="0"/>
          </a:p>
        </p:txBody>
      </p:sp>
      <p:sp>
        <p:nvSpPr>
          <p:cNvPr id="13" name="Shape 11"/>
          <p:cNvSpPr/>
          <p:nvPr/>
        </p:nvSpPr>
        <p:spPr>
          <a:xfrm>
            <a:off x="868680" y="4297680"/>
            <a:ext cx="1371600" cy="329184"/>
          </a:xfrm>
          <a:prstGeom prst="roundRect">
            <a:avLst>
              <a:gd name="adj" fmla="val 38889"/>
            </a:avLst>
          </a:prstGeom>
          <a:solidFill>
            <a:srgbClr val="F5F7F4"/>
          </a:solidFill>
          <a:ln w="10160">
            <a:solidFill>
              <a:srgbClr val="F5F7F4"/>
            </a:solidFill>
            <a:prstDash val="solid"/>
          </a:ln>
        </p:spPr>
      </p:sp>
      <p:sp>
        <p:nvSpPr>
          <p:cNvPr id="14" name="Text 12"/>
          <p:cNvSpPr/>
          <p:nvPr/>
        </p:nvSpPr>
        <p:spPr>
          <a:xfrm>
            <a:off x="978408" y="4315968"/>
            <a:ext cx="115214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LARAVEL</a:t>
            </a:r>
            <a:endParaRPr lang="en-US" sz="1150" dirty="0"/>
          </a:p>
        </p:txBody>
      </p:sp>
      <p:sp>
        <p:nvSpPr>
          <p:cNvPr id="15" name="Shape 13"/>
          <p:cNvSpPr/>
          <p:nvPr/>
        </p:nvSpPr>
        <p:spPr>
          <a:xfrm>
            <a:off x="2377440" y="4297680"/>
            <a:ext cx="1115568" cy="329184"/>
          </a:xfrm>
          <a:prstGeom prst="roundRect">
            <a:avLst>
              <a:gd name="adj" fmla="val 38889"/>
            </a:avLst>
          </a:prstGeom>
          <a:solidFill>
            <a:srgbClr val="F5F7F4"/>
          </a:solidFill>
          <a:ln w="10160">
            <a:solidFill>
              <a:srgbClr val="F5F7F4"/>
            </a:solidFill>
            <a:prstDash val="solid"/>
          </a:ln>
        </p:spPr>
      </p:sp>
      <p:sp>
        <p:nvSpPr>
          <p:cNvPr id="16" name="Text 14"/>
          <p:cNvSpPr/>
          <p:nvPr/>
        </p:nvSpPr>
        <p:spPr>
          <a:xfrm>
            <a:off x="2487168" y="4315968"/>
            <a:ext cx="896112"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REACT</a:t>
            </a:r>
            <a:endParaRPr lang="en-US" sz="1150" dirty="0"/>
          </a:p>
        </p:txBody>
      </p:sp>
      <p:sp>
        <p:nvSpPr>
          <p:cNvPr id="17" name="Shape 15"/>
          <p:cNvSpPr/>
          <p:nvPr/>
        </p:nvSpPr>
        <p:spPr>
          <a:xfrm>
            <a:off x="3639312" y="4297680"/>
            <a:ext cx="1828800" cy="329184"/>
          </a:xfrm>
          <a:prstGeom prst="roundRect">
            <a:avLst>
              <a:gd name="adj" fmla="val 38889"/>
            </a:avLst>
          </a:prstGeom>
          <a:solidFill>
            <a:srgbClr val="F5F7F4"/>
          </a:solidFill>
          <a:ln w="10160">
            <a:solidFill>
              <a:srgbClr val="F5F7F4"/>
            </a:solidFill>
            <a:prstDash val="solid"/>
          </a:ln>
        </p:spPr>
      </p:sp>
      <p:sp>
        <p:nvSpPr>
          <p:cNvPr id="18" name="Text 16"/>
          <p:cNvSpPr/>
          <p:nvPr/>
        </p:nvSpPr>
        <p:spPr>
          <a:xfrm>
            <a:off x="3749040" y="4315968"/>
            <a:ext cx="160934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PROTOTYPE</a:t>
            </a:r>
            <a:endParaRPr lang="en-US" sz="1150" dirty="0"/>
          </a:p>
        </p:txBody>
      </p:sp>
      <p:sp>
        <p:nvSpPr>
          <p:cNvPr id="19" name="Text 17"/>
          <p:cNvSpPr/>
          <p:nvPr/>
        </p:nvSpPr>
        <p:spPr>
          <a:xfrm>
            <a:off x="868680" y="4828032"/>
            <a:ext cx="6016752" cy="384048"/>
          </a:xfrm>
          <a:prstGeom prst="rect">
            <a:avLst/>
          </a:prstGeom>
          <a:noFill/>
          <a:ln/>
        </p:spPr>
        <p:txBody>
          <a:bodyPr wrap="square" lIns="0" tIns="0" rIns="0" bIns="0" rtlCol="0" anchor="ctr"/>
          <a:lstStyle/>
          <a:p>
            <a:pPr indent="0" marL="0">
              <a:buNone/>
            </a:pPr>
            <a:r>
              <a:rPr lang="en-US" sz="2000" dirty="0">
                <a:solidFill>
                  <a:srgbClr val="102A2E"/>
                </a:solidFill>
                <a:latin typeface="Aptos" pitchFamily="34" charset="0"/>
                <a:ea typeface="Aptos" pitchFamily="34" charset="-122"/>
                <a:cs typeface="Aptos" pitchFamily="34" charset="-120"/>
              </a:rPr>
              <a:t>Besoin : un premier retour sur le formulaire.</a:t>
            </a:r>
            <a:endParaRPr lang="en-US" sz="2000" dirty="0"/>
          </a:p>
        </p:txBody>
      </p:sp>
      <p:sp>
        <p:nvSpPr>
          <p:cNvPr id="20" name="Shape 18"/>
          <p:cNvSpPr/>
          <p:nvPr/>
        </p:nvSpPr>
        <p:spPr>
          <a:xfrm>
            <a:off x="868680" y="5303520"/>
            <a:ext cx="2267712" cy="274320"/>
          </a:xfrm>
          <a:prstGeom prst="roundRect">
            <a:avLst>
              <a:gd name="adj" fmla="val 46667"/>
            </a:avLst>
          </a:prstGeom>
          <a:solidFill>
            <a:srgbClr val="087F73"/>
          </a:solidFill>
          <a:ln w="10160">
            <a:solidFill>
              <a:srgbClr val="087F73"/>
            </a:solidFill>
            <a:prstDash val="solid"/>
          </a:ln>
        </p:spPr>
      </p:sp>
      <p:sp>
        <p:nvSpPr>
          <p:cNvPr id="21" name="Text 19"/>
          <p:cNvSpPr/>
          <p:nvPr/>
        </p:nvSpPr>
        <p:spPr>
          <a:xfrm>
            <a:off x="1005840" y="5321808"/>
            <a:ext cx="1993392" cy="219456"/>
          </a:xfrm>
          <a:prstGeom prst="rect">
            <a:avLst/>
          </a:prstGeom>
          <a:noFill/>
          <a:ln/>
        </p:spPr>
        <p:txBody>
          <a:bodyPr wrap="square" lIns="0" tIns="0" rIns="0" bIns="0" rtlCol="0" anchor="ctr"/>
          <a:lstStyle/>
          <a:p>
            <a:pPr indent="0" marL="0">
              <a:buNone/>
            </a:pPr>
            <a:r>
              <a:rPr lang="en-US" sz="1250" b="1" dirty="0">
                <a:solidFill>
                  <a:srgbClr val="FFFFFF"/>
                </a:solidFill>
                <a:latin typeface="Aptos" pitchFamily="34" charset="0"/>
                <a:ea typeface="Aptos" pitchFamily="34" charset="-122"/>
                <a:cs typeface="Aptos" pitchFamily="34" charset="-120"/>
              </a:rPr>
              <a:t>Je peux t’aider</a:t>
            </a:r>
            <a:endParaRPr lang="en-US" sz="1250" dirty="0"/>
          </a:p>
        </p:txBody>
      </p:sp>
      <p:sp>
        <p:nvSpPr>
          <p:cNvPr id="22" name="Shape 20"/>
          <p:cNvSpPr/>
          <p:nvPr/>
        </p:nvSpPr>
        <p:spPr>
          <a:xfrm>
            <a:off x="7525512" y="2386584"/>
            <a:ext cx="4023360" cy="3300984"/>
          </a:xfrm>
          <a:prstGeom prst="roundRect">
            <a:avLst>
              <a:gd name="adj" fmla="val 3878"/>
            </a:avLst>
          </a:prstGeom>
          <a:solidFill>
            <a:srgbClr val="FFFFFF"/>
          </a:solidFill>
          <a:ln w="10160">
            <a:solidFill>
              <a:srgbClr val="DCE5DF"/>
            </a:solidFill>
            <a:prstDash val="solid"/>
          </a:ln>
        </p:spPr>
      </p:sp>
      <p:sp>
        <p:nvSpPr>
          <p:cNvPr id="23" name="Text 21"/>
          <p:cNvSpPr/>
          <p:nvPr/>
        </p:nvSpPr>
        <p:spPr>
          <a:xfrm>
            <a:off x="7772400" y="2660904"/>
            <a:ext cx="3483864" cy="274320"/>
          </a:xfrm>
          <a:prstGeom prst="rect">
            <a:avLst/>
          </a:prstGeom>
          <a:noFill/>
          <a:ln/>
        </p:spPr>
        <p:txBody>
          <a:bodyPr wrap="square" lIns="0" tIns="0" rIns="0" bIns="0" rtlCol="0" anchor="ctr"/>
          <a:lstStyle/>
          <a:p>
            <a:pPr indent="0" marL="0">
              <a:buNone/>
            </a:pPr>
            <a:r>
              <a:rPr lang="en-US" sz="1200" b="1" spc="140" kern="0" dirty="0">
                <a:solidFill>
                  <a:srgbClr val="087F73"/>
                </a:solidFill>
                <a:latin typeface="Aptos" pitchFamily="34" charset="0"/>
                <a:ea typeface="Aptos" pitchFamily="34" charset="-122"/>
                <a:cs typeface="Aptos" pitchFamily="34" charset="-120"/>
              </a:rPr>
              <a:t>DÉVELOPPEUR</a:t>
            </a:r>
            <a:endParaRPr lang="en-US" sz="1200" dirty="0"/>
          </a:p>
        </p:txBody>
      </p:sp>
      <p:sp>
        <p:nvSpPr>
          <p:cNvPr id="24" name="Text 22"/>
          <p:cNvSpPr/>
          <p:nvPr/>
        </p:nvSpPr>
        <p:spPr>
          <a:xfrm>
            <a:off x="7772400" y="3236976"/>
            <a:ext cx="3493008" cy="438912"/>
          </a:xfrm>
          <a:prstGeom prst="rect">
            <a:avLst/>
          </a:prstGeom>
          <a:noFill/>
          <a:ln/>
        </p:spPr>
        <p:txBody>
          <a:bodyPr wrap="square" lIns="0" tIns="0" rIns="0" bIns="0" rtlCol="0" anchor="ctr"/>
          <a:lstStyle/>
          <a:p>
            <a:pPr indent="0" marL="0">
              <a:buNone/>
            </a:pPr>
            <a:r>
              <a:rPr lang="en-US" sz="2700" b="1" dirty="0">
                <a:solidFill>
                  <a:srgbClr val="102A2E"/>
                </a:solidFill>
                <a:latin typeface="Aptos" pitchFamily="34" charset="0"/>
                <a:ea typeface="Aptos" pitchFamily="34" charset="-122"/>
                <a:cs typeface="Aptos" pitchFamily="34" charset="-120"/>
              </a:rPr>
              <a:t>Moussa</a:t>
            </a:r>
            <a:endParaRPr lang="en-US" sz="2700" dirty="0"/>
          </a:p>
        </p:txBody>
      </p:sp>
      <p:sp>
        <p:nvSpPr>
          <p:cNvPr id="25" name="Text 23"/>
          <p:cNvSpPr/>
          <p:nvPr/>
        </p:nvSpPr>
        <p:spPr>
          <a:xfrm>
            <a:off x="7772400" y="3803904"/>
            <a:ext cx="3493008" cy="283464"/>
          </a:xfrm>
          <a:prstGeom prst="rect">
            <a:avLst/>
          </a:prstGeom>
          <a:noFill/>
          <a:ln/>
        </p:spPr>
        <p:txBody>
          <a:bodyPr wrap="square" lIns="0" tIns="0" rIns="0" bIns="0" rtlCol="0" anchor="ctr"/>
          <a:lstStyle/>
          <a:p>
            <a:pPr indent="0" marL="0">
              <a:buNone/>
            </a:pPr>
            <a:r>
              <a:rPr lang="en-US" sz="2000" dirty="0">
                <a:solidFill>
                  <a:srgbClr val="486064"/>
                </a:solidFill>
                <a:latin typeface="Aptos" pitchFamily="34" charset="0"/>
                <a:ea typeface="Aptos" pitchFamily="34" charset="-122"/>
                <a:cs typeface="Aptos" pitchFamily="34" charset="-120"/>
              </a:rPr>
              <a:t>Laravel · React</a:t>
            </a:r>
            <a:endParaRPr lang="en-US" sz="2000" dirty="0"/>
          </a:p>
        </p:txBody>
      </p:sp>
      <p:sp>
        <p:nvSpPr>
          <p:cNvPr id="26" name="Text 24"/>
          <p:cNvSpPr/>
          <p:nvPr/>
        </p:nvSpPr>
        <p:spPr>
          <a:xfrm>
            <a:off x="7772400" y="4379976"/>
            <a:ext cx="3493008" cy="356616"/>
          </a:xfrm>
          <a:prstGeom prst="rect">
            <a:avLst/>
          </a:prstGeom>
          <a:noFill/>
          <a:ln/>
        </p:spPr>
        <p:txBody>
          <a:bodyPr wrap="square" lIns="0" tIns="0" rIns="0" bIns="0" rtlCol="0" anchor="ctr"/>
          <a:lstStyle/>
          <a:p>
            <a:pPr indent="0" marL="0">
              <a:buNone/>
            </a:pPr>
            <a:r>
              <a:rPr lang="en-US" sz="2000" b="1" dirty="0">
                <a:solidFill>
                  <a:srgbClr val="087F73"/>
                </a:solidFill>
                <a:latin typeface="Aptos" pitchFamily="34" charset="0"/>
                <a:ea typeface="Aptos" pitchFamily="34" charset="-122"/>
                <a:cs typeface="Aptos" pitchFamily="34" charset="-120"/>
              </a:rPr>
              <a:t>Je peux tester ce parcours</a:t>
            </a:r>
            <a:endParaRPr lang="en-US" sz="2000" dirty="0"/>
          </a:p>
        </p:txBody>
      </p:sp>
      <p:sp>
        <p:nvSpPr>
          <p:cNvPr id="27" name="Text 25"/>
          <p:cNvSpPr/>
          <p:nvPr/>
        </p:nvSpPr>
        <p:spPr>
          <a:xfrm>
            <a:off x="7772400" y="4910328"/>
            <a:ext cx="3493008" cy="466344"/>
          </a:xfrm>
          <a:prstGeom prst="rect">
            <a:avLst/>
          </a:prstGeom>
          <a:noFill/>
          <a:ln/>
        </p:spPr>
        <p:txBody>
          <a:bodyPr wrap="square" lIns="0" tIns="0" rIns="0" bIns="0" rtlCol="0" anchor="ctr"/>
          <a:lstStyle/>
          <a:p>
            <a:pPr indent="0" marL="0">
              <a:buNone/>
            </a:pPr>
            <a:r>
              <a:rPr lang="en-US" sz="1500" dirty="0">
                <a:solidFill>
                  <a:srgbClr val="486064"/>
                </a:solidFill>
                <a:latin typeface="Aptos" pitchFamily="34" charset="0"/>
                <a:ea typeface="Aptos" pitchFamily="34" charset="-122"/>
                <a:cs typeface="Aptos" pitchFamily="34" charset="-120"/>
              </a:rPr>
              <a:t>Une proposition précise,</a:t>
            </a:r>
            <a:endParaRPr lang="en-US" sz="1500" dirty="0"/>
          </a:p>
          <a:p>
            <a:pPr indent="0" marL="0">
              <a:buNone/>
            </a:pPr>
            <a:r>
              <a:rPr lang="en-US" sz="1500" dirty="0">
                <a:solidFill>
                  <a:srgbClr val="486064"/>
                </a:solidFill>
                <a:latin typeface="Aptos" pitchFamily="34" charset="0"/>
                <a:ea typeface="Aptos" pitchFamily="34" charset="-122"/>
                <a:cs typeface="Aptos" pitchFamily="34" charset="-120"/>
              </a:rPr>
              <a:t>à accepter par le propriétaire.</a:t>
            </a:r>
            <a:endParaRPr lang="en-US" sz="1500" dirty="0"/>
          </a:p>
        </p:txBody>
      </p:sp>
      <p:sp>
        <p:nvSpPr>
          <p:cNvPr id="28" name="Text 26"/>
          <p:cNvSpPr/>
          <p:nvPr/>
        </p:nvSpPr>
        <p:spPr>
          <a:xfrm>
            <a:off x="621792" y="5833872"/>
            <a:ext cx="10972800" cy="265176"/>
          </a:xfrm>
          <a:prstGeom prst="rect">
            <a:avLst/>
          </a:prstGeom>
          <a:noFill/>
          <a:ln/>
        </p:spPr>
        <p:txBody>
          <a:bodyPr wrap="square" lIns="0" tIns="0" rIns="0" bIns="0" rtlCol="0" anchor="ctr"/>
          <a:lstStyle/>
          <a:p>
            <a:pPr indent="0" marL="0">
              <a:buNone/>
            </a:pPr>
            <a:r>
              <a:rPr lang="en-US" sz="1400" dirty="0">
                <a:solidFill>
                  <a:srgbClr val="486064"/>
                </a:solidFill>
                <a:latin typeface="Aptos" pitchFamily="34" charset="0"/>
                <a:ea typeface="Aptos" pitchFamily="34" charset="-122"/>
                <a:cs typeface="Aptos" pitchFamily="34" charset="-120"/>
              </a:rPr>
              <a:t>Projet ouvert aux coups de main → proposition → accord → échange public consenti.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UN PARCOURS COHÉRENT</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05</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La rencontre commence</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par un premier coup de main.</a:t>
            </a:r>
            <a:endParaRPr lang="en-US" sz="3500" dirty="0"/>
          </a:p>
        </p:txBody>
      </p:sp>
      <p:sp>
        <p:nvSpPr>
          <p:cNvPr id="8" name="Shape 6"/>
          <p:cNvSpPr/>
          <p:nvPr/>
        </p:nvSpPr>
        <p:spPr>
          <a:xfrm>
            <a:off x="585216" y="2770632"/>
            <a:ext cx="2029968" cy="2029968"/>
          </a:xfrm>
          <a:prstGeom prst="roundRect">
            <a:avLst>
              <a:gd name="adj" fmla="val 6306"/>
            </a:avLst>
          </a:prstGeom>
          <a:solidFill>
            <a:srgbClr val="FFFFFF"/>
          </a:solidFill>
          <a:ln w="10160">
            <a:solidFill>
              <a:srgbClr val="DCE5DF"/>
            </a:solidFill>
            <a:prstDash val="solid"/>
          </a:ln>
        </p:spPr>
      </p:sp>
      <p:sp>
        <p:nvSpPr>
          <p:cNvPr id="9" name="Shape 7"/>
          <p:cNvSpPr/>
          <p:nvPr/>
        </p:nvSpPr>
        <p:spPr>
          <a:xfrm>
            <a:off x="749808" y="2944368"/>
            <a:ext cx="530352" cy="329184"/>
          </a:xfrm>
          <a:prstGeom prst="roundRect">
            <a:avLst>
              <a:gd name="adj" fmla="val 38889"/>
            </a:avLst>
          </a:prstGeom>
          <a:solidFill>
            <a:srgbClr val="BFE8D5"/>
          </a:solidFill>
          <a:ln w="10160">
            <a:solidFill>
              <a:srgbClr val="BFE8D5"/>
            </a:solidFill>
            <a:prstDash val="solid"/>
          </a:ln>
        </p:spPr>
      </p:sp>
      <p:sp>
        <p:nvSpPr>
          <p:cNvPr id="10" name="Text 8"/>
          <p:cNvSpPr/>
          <p:nvPr/>
        </p:nvSpPr>
        <p:spPr>
          <a:xfrm>
            <a:off x="859536" y="2962656"/>
            <a:ext cx="31089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01</a:t>
            </a:r>
            <a:endParaRPr lang="en-US" sz="1150" dirty="0"/>
          </a:p>
        </p:txBody>
      </p:sp>
      <p:sp>
        <p:nvSpPr>
          <p:cNvPr id="11" name="Text 9"/>
          <p:cNvSpPr/>
          <p:nvPr/>
        </p:nvSpPr>
        <p:spPr>
          <a:xfrm>
            <a:off x="749808" y="3474720"/>
            <a:ext cx="1719072" cy="429768"/>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 projet</a:t>
            </a:r>
            <a:endParaRPr lang="en-US" sz="2000" dirty="0"/>
          </a:p>
        </p:txBody>
      </p:sp>
      <p:sp>
        <p:nvSpPr>
          <p:cNvPr id="12" name="Text 10"/>
          <p:cNvSpPr/>
          <p:nvPr/>
        </p:nvSpPr>
        <p:spPr>
          <a:xfrm>
            <a:off x="749808" y="4023360"/>
            <a:ext cx="1719072" cy="557784"/>
          </a:xfrm>
          <a:prstGeom prst="rect">
            <a:avLst/>
          </a:prstGeom>
          <a:noFill/>
          <a:ln/>
        </p:spPr>
        <p:txBody>
          <a:bodyPr wrap="square" lIns="0" tIns="0" rIns="0" bIns="0" rtlCol="0" anchor="ctr"/>
          <a:lstStyle/>
          <a:p>
            <a:pPr indent="0" marL="0">
              <a:buNone/>
            </a:pPr>
            <a:r>
              <a:rPr lang="en-US" sz="1740" dirty="0">
                <a:solidFill>
                  <a:srgbClr val="486064"/>
                </a:solidFill>
                <a:latin typeface="Aptos" pitchFamily="34" charset="0"/>
                <a:ea typeface="Aptos" pitchFamily="34" charset="-122"/>
                <a:cs typeface="Aptos" pitchFamily="34" charset="-120"/>
              </a:rPr>
              <a:t>A ouvre</a:t>
            </a:r>
            <a:endParaRPr lang="en-US" sz="1740" dirty="0"/>
          </a:p>
          <a:p>
            <a:pPr indent="0" marL="0">
              <a:buNone/>
            </a:pPr>
            <a:r>
              <a:rPr lang="en-US" sz="1740" dirty="0">
                <a:solidFill>
                  <a:srgbClr val="486064"/>
                </a:solidFill>
                <a:latin typeface="Aptos" pitchFamily="34" charset="0"/>
                <a:ea typeface="Aptos" pitchFamily="34" charset="-122"/>
                <a:cs typeface="Aptos" pitchFamily="34" charset="-120"/>
              </a:rPr>
              <a:t>un petit besoin.</a:t>
            </a:r>
            <a:endParaRPr lang="en-US" sz="1740" dirty="0"/>
          </a:p>
        </p:txBody>
      </p:sp>
      <p:sp>
        <p:nvSpPr>
          <p:cNvPr id="13" name="Shape 11"/>
          <p:cNvSpPr/>
          <p:nvPr/>
        </p:nvSpPr>
        <p:spPr>
          <a:xfrm>
            <a:off x="2624328" y="3767328"/>
            <a:ext cx="210312" cy="0"/>
          </a:xfrm>
          <a:prstGeom prst="line">
            <a:avLst/>
          </a:prstGeom>
          <a:noFill/>
          <a:ln w="21590">
            <a:solidFill>
              <a:srgbClr val="087F73"/>
            </a:solidFill>
            <a:prstDash val="solid"/>
            <a:headEnd type="none"/>
            <a:tailEnd type="triangle"/>
          </a:ln>
        </p:spPr>
      </p:sp>
      <p:sp>
        <p:nvSpPr>
          <p:cNvPr id="14" name="Shape 12"/>
          <p:cNvSpPr/>
          <p:nvPr/>
        </p:nvSpPr>
        <p:spPr>
          <a:xfrm>
            <a:off x="2862072" y="2770632"/>
            <a:ext cx="2029968" cy="2029968"/>
          </a:xfrm>
          <a:prstGeom prst="roundRect">
            <a:avLst>
              <a:gd name="adj" fmla="val 6306"/>
            </a:avLst>
          </a:prstGeom>
          <a:solidFill>
            <a:srgbClr val="FFFFFF"/>
          </a:solidFill>
          <a:ln w="10160">
            <a:solidFill>
              <a:srgbClr val="DCE5DF"/>
            </a:solidFill>
            <a:prstDash val="solid"/>
          </a:ln>
        </p:spPr>
      </p:sp>
      <p:sp>
        <p:nvSpPr>
          <p:cNvPr id="15" name="Shape 13"/>
          <p:cNvSpPr/>
          <p:nvPr/>
        </p:nvSpPr>
        <p:spPr>
          <a:xfrm>
            <a:off x="3026664" y="2944368"/>
            <a:ext cx="530352" cy="329184"/>
          </a:xfrm>
          <a:prstGeom prst="roundRect">
            <a:avLst>
              <a:gd name="adj" fmla="val 38889"/>
            </a:avLst>
          </a:prstGeom>
          <a:solidFill>
            <a:srgbClr val="BFE8D5"/>
          </a:solidFill>
          <a:ln w="10160">
            <a:solidFill>
              <a:srgbClr val="BFE8D5"/>
            </a:solidFill>
            <a:prstDash val="solid"/>
          </a:ln>
        </p:spPr>
      </p:sp>
      <p:sp>
        <p:nvSpPr>
          <p:cNvPr id="16" name="Text 14"/>
          <p:cNvSpPr/>
          <p:nvPr/>
        </p:nvSpPr>
        <p:spPr>
          <a:xfrm>
            <a:off x="3136392" y="2962656"/>
            <a:ext cx="31089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02</a:t>
            </a:r>
            <a:endParaRPr lang="en-US" sz="1150" dirty="0"/>
          </a:p>
        </p:txBody>
      </p:sp>
      <p:sp>
        <p:nvSpPr>
          <p:cNvPr id="17" name="Text 15"/>
          <p:cNvSpPr/>
          <p:nvPr/>
        </p:nvSpPr>
        <p:spPr>
          <a:xfrm>
            <a:off x="3026664" y="3474720"/>
            <a:ext cx="1719072" cy="429768"/>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Une offre</a:t>
            </a:r>
            <a:endParaRPr lang="en-US" sz="2000" dirty="0"/>
          </a:p>
        </p:txBody>
      </p:sp>
      <p:sp>
        <p:nvSpPr>
          <p:cNvPr id="18" name="Text 16"/>
          <p:cNvSpPr/>
          <p:nvPr/>
        </p:nvSpPr>
        <p:spPr>
          <a:xfrm>
            <a:off x="3026664" y="4023360"/>
            <a:ext cx="1719072" cy="557784"/>
          </a:xfrm>
          <a:prstGeom prst="rect">
            <a:avLst/>
          </a:prstGeom>
          <a:noFill/>
          <a:ln/>
        </p:spPr>
        <p:txBody>
          <a:bodyPr wrap="square" lIns="0" tIns="0" rIns="0" bIns="0" rtlCol="0" anchor="ctr"/>
          <a:lstStyle/>
          <a:p>
            <a:pPr indent="0" marL="0">
              <a:buNone/>
            </a:pPr>
            <a:r>
              <a:rPr lang="en-US" sz="1740" dirty="0">
                <a:solidFill>
                  <a:srgbClr val="486064"/>
                </a:solidFill>
                <a:latin typeface="Aptos" pitchFamily="34" charset="0"/>
                <a:ea typeface="Aptos" pitchFamily="34" charset="-122"/>
                <a:cs typeface="Aptos" pitchFamily="34" charset="-120"/>
              </a:rPr>
              <a:t>B propose</a:t>
            </a:r>
            <a:endParaRPr lang="en-US" sz="1740" dirty="0"/>
          </a:p>
          <a:p>
            <a:pPr indent="0" marL="0">
              <a:buNone/>
            </a:pPr>
            <a:r>
              <a:rPr lang="en-US" sz="1740" dirty="0">
                <a:solidFill>
                  <a:srgbClr val="486064"/>
                </a:solidFill>
                <a:latin typeface="Aptos" pitchFamily="34" charset="0"/>
                <a:ea typeface="Aptos" pitchFamily="34" charset="-122"/>
                <a:cs typeface="Aptos" pitchFamily="34" charset="-120"/>
              </a:rPr>
              <a:t>son aide.</a:t>
            </a:r>
            <a:endParaRPr lang="en-US" sz="1740" dirty="0"/>
          </a:p>
        </p:txBody>
      </p:sp>
      <p:sp>
        <p:nvSpPr>
          <p:cNvPr id="19" name="Shape 17"/>
          <p:cNvSpPr/>
          <p:nvPr/>
        </p:nvSpPr>
        <p:spPr>
          <a:xfrm>
            <a:off x="4901184" y="3767328"/>
            <a:ext cx="210312" cy="0"/>
          </a:xfrm>
          <a:prstGeom prst="line">
            <a:avLst/>
          </a:prstGeom>
          <a:noFill/>
          <a:ln w="21590">
            <a:solidFill>
              <a:srgbClr val="087F73"/>
            </a:solidFill>
            <a:prstDash val="solid"/>
            <a:headEnd type="none"/>
            <a:tailEnd type="triangle"/>
          </a:ln>
        </p:spPr>
      </p:sp>
      <p:sp>
        <p:nvSpPr>
          <p:cNvPr id="20" name="Shape 18"/>
          <p:cNvSpPr/>
          <p:nvPr/>
        </p:nvSpPr>
        <p:spPr>
          <a:xfrm>
            <a:off x="5138928" y="2770632"/>
            <a:ext cx="2029968" cy="2029968"/>
          </a:xfrm>
          <a:prstGeom prst="roundRect">
            <a:avLst>
              <a:gd name="adj" fmla="val 6306"/>
            </a:avLst>
          </a:prstGeom>
          <a:solidFill>
            <a:srgbClr val="FFFFFF"/>
          </a:solidFill>
          <a:ln w="10160">
            <a:solidFill>
              <a:srgbClr val="DCE5DF"/>
            </a:solidFill>
            <a:prstDash val="solid"/>
          </a:ln>
        </p:spPr>
      </p:sp>
      <p:sp>
        <p:nvSpPr>
          <p:cNvPr id="21" name="Shape 19"/>
          <p:cNvSpPr/>
          <p:nvPr/>
        </p:nvSpPr>
        <p:spPr>
          <a:xfrm>
            <a:off x="5303520" y="2944368"/>
            <a:ext cx="530352" cy="329184"/>
          </a:xfrm>
          <a:prstGeom prst="roundRect">
            <a:avLst>
              <a:gd name="adj" fmla="val 38889"/>
            </a:avLst>
          </a:prstGeom>
          <a:solidFill>
            <a:srgbClr val="BFE8D5"/>
          </a:solidFill>
          <a:ln w="10160">
            <a:solidFill>
              <a:srgbClr val="BFE8D5"/>
            </a:solidFill>
            <a:prstDash val="solid"/>
          </a:ln>
        </p:spPr>
      </p:sp>
      <p:sp>
        <p:nvSpPr>
          <p:cNvPr id="22" name="Text 20"/>
          <p:cNvSpPr/>
          <p:nvPr/>
        </p:nvSpPr>
        <p:spPr>
          <a:xfrm>
            <a:off x="5413248" y="2962656"/>
            <a:ext cx="31089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03</a:t>
            </a:r>
            <a:endParaRPr lang="en-US" sz="1150" dirty="0"/>
          </a:p>
        </p:txBody>
      </p:sp>
      <p:sp>
        <p:nvSpPr>
          <p:cNvPr id="23" name="Text 21"/>
          <p:cNvSpPr/>
          <p:nvPr/>
        </p:nvSpPr>
        <p:spPr>
          <a:xfrm>
            <a:off x="5303520" y="3474720"/>
            <a:ext cx="1719072" cy="429768"/>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 accord</a:t>
            </a:r>
            <a:endParaRPr lang="en-US" sz="2000" dirty="0"/>
          </a:p>
        </p:txBody>
      </p:sp>
      <p:sp>
        <p:nvSpPr>
          <p:cNvPr id="24" name="Text 22"/>
          <p:cNvSpPr/>
          <p:nvPr/>
        </p:nvSpPr>
        <p:spPr>
          <a:xfrm>
            <a:off x="5303520" y="4023360"/>
            <a:ext cx="1719072" cy="557784"/>
          </a:xfrm>
          <a:prstGeom prst="rect">
            <a:avLst/>
          </a:prstGeom>
          <a:noFill/>
          <a:ln/>
        </p:spPr>
        <p:txBody>
          <a:bodyPr wrap="square" lIns="0" tIns="0" rIns="0" bIns="0" rtlCol="0" anchor="ctr"/>
          <a:lstStyle/>
          <a:p>
            <a:pPr indent="0" marL="0">
              <a:buNone/>
            </a:pPr>
            <a:r>
              <a:rPr lang="en-US" sz="1740" dirty="0">
                <a:solidFill>
                  <a:srgbClr val="486064"/>
                </a:solidFill>
                <a:latin typeface="Aptos" pitchFamily="34" charset="0"/>
                <a:ea typeface="Aptos" pitchFamily="34" charset="-122"/>
                <a:cs typeface="Aptos" pitchFamily="34" charset="-120"/>
              </a:rPr>
              <a:t>A accepte</a:t>
            </a:r>
            <a:endParaRPr lang="en-US" sz="1740" dirty="0"/>
          </a:p>
          <a:p>
            <a:pPr indent="0" marL="0">
              <a:buNone/>
            </a:pPr>
            <a:r>
              <a:rPr lang="en-US" sz="1740" dirty="0">
                <a:solidFill>
                  <a:srgbClr val="486064"/>
                </a:solidFill>
                <a:latin typeface="Aptos" pitchFamily="34" charset="0"/>
                <a:ea typeface="Aptos" pitchFamily="34" charset="-122"/>
                <a:cs typeface="Aptos" pitchFamily="34" charset="-120"/>
              </a:rPr>
              <a:t>l’échange.</a:t>
            </a:r>
            <a:endParaRPr lang="en-US" sz="1740" dirty="0"/>
          </a:p>
        </p:txBody>
      </p:sp>
      <p:sp>
        <p:nvSpPr>
          <p:cNvPr id="25" name="Shape 23"/>
          <p:cNvSpPr/>
          <p:nvPr/>
        </p:nvSpPr>
        <p:spPr>
          <a:xfrm>
            <a:off x="7178040" y="3767328"/>
            <a:ext cx="210312" cy="0"/>
          </a:xfrm>
          <a:prstGeom prst="line">
            <a:avLst/>
          </a:prstGeom>
          <a:noFill/>
          <a:ln w="21590">
            <a:solidFill>
              <a:srgbClr val="087F73"/>
            </a:solidFill>
            <a:prstDash val="solid"/>
            <a:headEnd type="none"/>
            <a:tailEnd type="triangle"/>
          </a:ln>
        </p:spPr>
      </p:sp>
      <p:sp>
        <p:nvSpPr>
          <p:cNvPr id="26" name="Shape 24"/>
          <p:cNvSpPr/>
          <p:nvPr/>
        </p:nvSpPr>
        <p:spPr>
          <a:xfrm>
            <a:off x="7415784" y="2770632"/>
            <a:ext cx="2029968" cy="2029968"/>
          </a:xfrm>
          <a:prstGeom prst="roundRect">
            <a:avLst>
              <a:gd name="adj" fmla="val 6306"/>
            </a:avLst>
          </a:prstGeom>
          <a:solidFill>
            <a:srgbClr val="FFFFFF"/>
          </a:solidFill>
          <a:ln w="10160">
            <a:solidFill>
              <a:srgbClr val="DCE5DF"/>
            </a:solidFill>
            <a:prstDash val="solid"/>
          </a:ln>
        </p:spPr>
      </p:sp>
      <p:sp>
        <p:nvSpPr>
          <p:cNvPr id="27" name="Shape 25"/>
          <p:cNvSpPr/>
          <p:nvPr/>
        </p:nvSpPr>
        <p:spPr>
          <a:xfrm>
            <a:off x="7580376" y="2944368"/>
            <a:ext cx="530352" cy="329184"/>
          </a:xfrm>
          <a:prstGeom prst="roundRect">
            <a:avLst>
              <a:gd name="adj" fmla="val 38889"/>
            </a:avLst>
          </a:prstGeom>
          <a:solidFill>
            <a:srgbClr val="BFE8D5"/>
          </a:solidFill>
          <a:ln w="10160">
            <a:solidFill>
              <a:srgbClr val="BFE8D5"/>
            </a:solidFill>
            <a:prstDash val="solid"/>
          </a:ln>
        </p:spPr>
      </p:sp>
      <p:sp>
        <p:nvSpPr>
          <p:cNvPr id="28" name="Text 26"/>
          <p:cNvSpPr/>
          <p:nvPr/>
        </p:nvSpPr>
        <p:spPr>
          <a:xfrm>
            <a:off x="7690104" y="2962656"/>
            <a:ext cx="31089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04</a:t>
            </a:r>
            <a:endParaRPr lang="en-US" sz="1150" dirty="0"/>
          </a:p>
        </p:txBody>
      </p:sp>
      <p:sp>
        <p:nvSpPr>
          <p:cNvPr id="29" name="Text 27"/>
          <p:cNvSpPr/>
          <p:nvPr/>
        </p:nvSpPr>
        <p:spPr>
          <a:xfrm>
            <a:off x="7580376" y="3474720"/>
            <a:ext cx="1719072" cy="429768"/>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 apport</a:t>
            </a:r>
            <a:endParaRPr lang="en-US" sz="2000" dirty="0"/>
          </a:p>
        </p:txBody>
      </p:sp>
      <p:sp>
        <p:nvSpPr>
          <p:cNvPr id="30" name="Text 28"/>
          <p:cNvSpPr/>
          <p:nvPr/>
        </p:nvSpPr>
        <p:spPr>
          <a:xfrm>
            <a:off x="7580376" y="4023360"/>
            <a:ext cx="1719072" cy="557784"/>
          </a:xfrm>
          <a:prstGeom prst="rect">
            <a:avLst/>
          </a:prstGeom>
          <a:noFill/>
          <a:ln/>
        </p:spPr>
        <p:txBody>
          <a:bodyPr wrap="square" lIns="0" tIns="0" rIns="0" bIns="0" rtlCol="0" anchor="ctr"/>
          <a:lstStyle/>
          <a:p>
            <a:pPr indent="0" marL="0">
              <a:buNone/>
            </a:pPr>
            <a:r>
              <a:rPr lang="en-US" sz="1740" dirty="0">
                <a:solidFill>
                  <a:srgbClr val="486064"/>
                </a:solidFill>
                <a:latin typeface="Aptos" pitchFamily="34" charset="0"/>
                <a:ea typeface="Aptos" pitchFamily="34" charset="-122"/>
                <a:cs typeface="Aptos" pitchFamily="34" charset="-120"/>
              </a:rPr>
              <a:t>B partage</a:t>
            </a:r>
            <a:endParaRPr lang="en-US" sz="1740" dirty="0"/>
          </a:p>
          <a:p>
            <a:pPr indent="0" marL="0">
              <a:buNone/>
            </a:pPr>
            <a:r>
              <a:rPr lang="en-US" sz="1740" dirty="0">
                <a:solidFill>
                  <a:srgbClr val="486064"/>
                </a:solidFill>
                <a:latin typeface="Aptos" pitchFamily="34" charset="0"/>
                <a:ea typeface="Aptos" pitchFamily="34" charset="-122"/>
                <a:cs typeface="Aptos" pitchFamily="34" charset="-120"/>
              </a:rPr>
              <a:t>son retour.</a:t>
            </a:r>
            <a:endParaRPr lang="en-US" sz="1740" dirty="0"/>
          </a:p>
        </p:txBody>
      </p:sp>
      <p:sp>
        <p:nvSpPr>
          <p:cNvPr id="31" name="Shape 29"/>
          <p:cNvSpPr/>
          <p:nvPr/>
        </p:nvSpPr>
        <p:spPr>
          <a:xfrm>
            <a:off x="9454896" y="3767328"/>
            <a:ext cx="210312" cy="0"/>
          </a:xfrm>
          <a:prstGeom prst="line">
            <a:avLst/>
          </a:prstGeom>
          <a:noFill/>
          <a:ln w="21590">
            <a:solidFill>
              <a:srgbClr val="087F73"/>
            </a:solidFill>
            <a:prstDash val="solid"/>
            <a:headEnd type="none"/>
            <a:tailEnd type="triangle"/>
          </a:ln>
        </p:spPr>
      </p:sp>
      <p:sp>
        <p:nvSpPr>
          <p:cNvPr id="32" name="Shape 30"/>
          <p:cNvSpPr/>
          <p:nvPr/>
        </p:nvSpPr>
        <p:spPr>
          <a:xfrm>
            <a:off x="9692640" y="2770632"/>
            <a:ext cx="2029968" cy="2029968"/>
          </a:xfrm>
          <a:prstGeom prst="roundRect">
            <a:avLst>
              <a:gd name="adj" fmla="val 6306"/>
            </a:avLst>
          </a:prstGeom>
          <a:solidFill>
            <a:srgbClr val="FFFFFF"/>
          </a:solidFill>
          <a:ln w="10160">
            <a:solidFill>
              <a:srgbClr val="DCE5DF"/>
            </a:solidFill>
            <a:prstDash val="solid"/>
          </a:ln>
        </p:spPr>
      </p:sp>
      <p:sp>
        <p:nvSpPr>
          <p:cNvPr id="33" name="Shape 31"/>
          <p:cNvSpPr/>
          <p:nvPr/>
        </p:nvSpPr>
        <p:spPr>
          <a:xfrm>
            <a:off x="9857232" y="2944368"/>
            <a:ext cx="530352" cy="329184"/>
          </a:xfrm>
          <a:prstGeom prst="roundRect">
            <a:avLst>
              <a:gd name="adj" fmla="val 38889"/>
            </a:avLst>
          </a:prstGeom>
          <a:solidFill>
            <a:srgbClr val="BFE8D5"/>
          </a:solidFill>
          <a:ln w="10160">
            <a:solidFill>
              <a:srgbClr val="BFE8D5"/>
            </a:solidFill>
            <a:prstDash val="solid"/>
          </a:ln>
        </p:spPr>
      </p:sp>
      <p:sp>
        <p:nvSpPr>
          <p:cNvPr id="34" name="Text 32"/>
          <p:cNvSpPr/>
          <p:nvPr/>
        </p:nvSpPr>
        <p:spPr>
          <a:xfrm>
            <a:off x="9966960" y="2962656"/>
            <a:ext cx="310896"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05</a:t>
            </a:r>
            <a:endParaRPr lang="en-US" sz="1150" dirty="0"/>
          </a:p>
        </p:txBody>
      </p:sp>
      <p:sp>
        <p:nvSpPr>
          <p:cNvPr id="35" name="Text 33"/>
          <p:cNvSpPr/>
          <p:nvPr/>
        </p:nvSpPr>
        <p:spPr>
          <a:xfrm>
            <a:off x="9857232" y="3474720"/>
            <a:ext cx="1719072" cy="429768"/>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 partage</a:t>
            </a:r>
            <a:endParaRPr lang="en-US" sz="2000" dirty="0"/>
          </a:p>
        </p:txBody>
      </p:sp>
      <p:sp>
        <p:nvSpPr>
          <p:cNvPr id="36" name="Text 34"/>
          <p:cNvSpPr/>
          <p:nvPr/>
        </p:nvSpPr>
        <p:spPr>
          <a:xfrm>
            <a:off x="9857232" y="4023360"/>
            <a:ext cx="1719072" cy="557784"/>
          </a:xfrm>
          <a:prstGeom prst="rect">
            <a:avLst/>
          </a:prstGeom>
          <a:noFill/>
          <a:ln/>
        </p:spPr>
        <p:txBody>
          <a:bodyPr wrap="square" lIns="0" tIns="0" rIns="0" bIns="0" rtlCol="0" anchor="ctr"/>
          <a:lstStyle/>
          <a:p>
            <a:pPr indent="0" marL="0">
              <a:buNone/>
            </a:pPr>
            <a:r>
              <a:rPr lang="en-US" sz="1740" dirty="0">
                <a:solidFill>
                  <a:srgbClr val="486064"/>
                </a:solidFill>
                <a:latin typeface="Aptos" pitchFamily="34" charset="0"/>
                <a:ea typeface="Aptos" pitchFamily="34" charset="-122"/>
                <a:cs typeface="Aptos" pitchFamily="34" charset="-120"/>
              </a:rPr>
              <a:t>Le résultat</a:t>
            </a:r>
            <a:endParaRPr lang="en-US" sz="1740" dirty="0"/>
          </a:p>
          <a:p>
            <a:pPr indent="0" marL="0">
              <a:buNone/>
            </a:pPr>
            <a:r>
              <a:rPr lang="en-US" sz="1740" dirty="0">
                <a:solidFill>
                  <a:srgbClr val="486064"/>
                </a:solidFill>
                <a:latin typeface="Aptos" pitchFamily="34" charset="0"/>
                <a:ea typeface="Aptos" pitchFamily="34" charset="-122"/>
                <a:cs typeface="Aptos" pitchFamily="34" charset="-120"/>
              </a:rPr>
              <a:t>peut resservir.</a:t>
            </a:r>
            <a:endParaRPr lang="en-US" sz="1740" dirty="0"/>
          </a:p>
        </p:txBody>
      </p:sp>
      <p:sp>
        <p:nvSpPr>
          <p:cNvPr id="37" name="Shape 35"/>
          <p:cNvSpPr/>
          <p:nvPr/>
        </p:nvSpPr>
        <p:spPr>
          <a:xfrm>
            <a:off x="594360" y="5212080"/>
            <a:ext cx="10972800" cy="667512"/>
          </a:xfrm>
          <a:prstGeom prst="roundRect">
            <a:avLst>
              <a:gd name="adj" fmla="val 19178"/>
            </a:avLst>
          </a:prstGeom>
          <a:solidFill>
            <a:srgbClr val="BFE8D5"/>
          </a:solidFill>
          <a:ln w="10160">
            <a:solidFill>
              <a:srgbClr val="BFE8D5"/>
            </a:solidFill>
            <a:prstDash val="solid"/>
          </a:ln>
        </p:spPr>
      </p:sp>
      <p:sp>
        <p:nvSpPr>
          <p:cNvPr id="38" name="Text 36"/>
          <p:cNvSpPr/>
          <p:nvPr/>
        </p:nvSpPr>
        <p:spPr>
          <a:xfrm>
            <a:off x="859536" y="5394960"/>
            <a:ext cx="10424160" cy="301752"/>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Une question simple peut aussi recevoir une réponse, sans code ni test.</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LA FONCTIONNALITÉ DISTINCTIVE</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06</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Voir ce qu’une contribution</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a changé.</a:t>
            </a:r>
            <a:endParaRPr lang="en-US" sz="3500" dirty="0"/>
          </a:p>
        </p:txBody>
      </p:sp>
      <p:sp>
        <p:nvSpPr>
          <p:cNvPr id="8" name="Shape 6"/>
          <p:cNvSpPr/>
          <p:nvPr/>
        </p:nvSpPr>
        <p:spPr>
          <a:xfrm>
            <a:off x="603504" y="2240280"/>
            <a:ext cx="6446520" cy="329184"/>
          </a:xfrm>
          <a:prstGeom prst="roundRect">
            <a:avLst>
              <a:gd name="adj" fmla="val 38889"/>
            </a:avLst>
          </a:prstGeom>
          <a:solidFill>
            <a:srgbClr val="BFE8D5"/>
          </a:solidFill>
          <a:ln w="10160">
            <a:solidFill>
              <a:srgbClr val="BFE8D5"/>
            </a:solidFill>
            <a:prstDash val="solid"/>
          </a:ln>
        </p:spPr>
      </p:sp>
      <p:sp>
        <p:nvSpPr>
          <p:cNvPr id="9" name="Text 7"/>
          <p:cNvSpPr/>
          <p:nvPr/>
        </p:nvSpPr>
        <p:spPr>
          <a:xfrm>
            <a:off x="713232" y="2258568"/>
            <a:ext cx="6227064" cy="274320"/>
          </a:xfrm>
          <a:prstGeom prst="rect">
            <a:avLst/>
          </a:prstGeom>
          <a:noFill/>
          <a:ln/>
        </p:spPr>
        <p:txBody>
          <a:bodyPr wrap="square" lIns="0" tIns="0" rIns="0" bIns="0" rtlCol="0" anchor="ctr"/>
          <a:lstStyle/>
          <a:p>
            <a:pPr indent="0" marL="0">
              <a:buNone/>
            </a:pPr>
            <a:r>
              <a:rPr lang="en-US" sz="1150" b="1" dirty="0">
                <a:solidFill>
                  <a:srgbClr val="102A2E"/>
                </a:solidFill>
                <a:latin typeface="Aptos" pitchFamily="34" charset="0"/>
                <a:ea typeface="Aptos" pitchFamily="34" charset="-122"/>
                <a:cs typeface="Aptos" pitchFamily="34" charset="-120"/>
              </a:rPr>
              <a:t>EXEMPLE : UNE NOTIFICATION REÇUE DEUX FOIS</a:t>
            </a:r>
            <a:endParaRPr lang="en-US" sz="1150" dirty="0"/>
          </a:p>
        </p:txBody>
      </p:sp>
      <p:sp>
        <p:nvSpPr>
          <p:cNvPr id="10" name="Shape 8"/>
          <p:cNvSpPr/>
          <p:nvPr/>
        </p:nvSpPr>
        <p:spPr>
          <a:xfrm>
            <a:off x="603504" y="2880360"/>
            <a:ext cx="5276088" cy="2377440"/>
          </a:xfrm>
          <a:prstGeom prst="roundRect">
            <a:avLst>
              <a:gd name="adj" fmla="val 5385"/>
            </a:avLst>
          </a:prstGeom>
          <a:solidFill>
            <a:srgbClr val="FAF0E8"/>
          </a:solidFill>
          <a:ln w="10160">
            <a:solidFill>
              <a:srgbClr val="E6D7CA"/>
            </a:solidFill>
            <a:prstDash val="solid"/>
          </a:ln>
        </p:spPr>
      </p:sp>
      <p:sp>
        <p:nvSpPr>
          <p:cNvPr id="11" name="Text 9"/>
          <p:cNvSpPr/>
          <p:nvPr/>
        </p:nvSpPr>
        <p:spPr>
          <a:xfrm>
            <a:off x="877824" y="3136392"/>
            <a:ext cx="4709160" cy="265176"/>
          </a:xfrm>
          <a:prstGeom prst="rect">
            <a:avLst/>
          </a:prstGeom>
          <a:noFill/>
          <a:ln/>
        </p:spPr>
        <p:txBody>
          <a:bodyPr wrap="square" lIns="0" tIns="0" rIns="0" bIns="0" rtlCol="0" anchor="ctr"/>
          <a:lstStyle/>
          <a:p>
            <a:pPr indent="0" marL="0">
              <a:buNone/>
            </a:pPr>
            <a:r>
              <a:rPr lang="en-US" sz="1200" b="1" dirty="0">
                <a:solidFill>
                  <a:srgbClr val="8A4B10"/>
                </a:solidFill>
                <a:latin typeface="Aptos" pitchFamily="34" charset="0"/>
                <a:ea typeface="Aptos" pitchFamily="34" charset="-122"/>
                <a:cs typeface="Aptos" pitchFamily="34" charset="-120"/>
              </a:rPr>
              <a:t>EXEMPLE PÉDAGOGIQUE INCORRECT</a:t>
            </a:r>
            <a:endParaRPr lang="en-US" sz="1200" dirty="0"/>
          </a:p>
        </p:txBody>
      </p:sp>
      <p:sp>
        <p:nvSpPr>
          <p:cNvPr id="12" name="Text 10"/>
          <p:cNvSpPr/>
          <p:nvPr/>
        </p:nvSpPr>
        <p:spPr>
          <a:xfrm>
            <a:off x="877824" y="3657600"/>
            <a:ext cx="4709160" cy="612648"/>
          </a:xfrm>
          <a:prstGeom prst="rect">
            <a:avLst/>
          </a:prstGeom>
          <a:noFill/>
          <a:ln/>
        </p:spPr>
        <p:txBody>
          <a:bodyPr wrap="square" lIns="0" tIns="0" rIns="0" bIns="0" rtlCol="0" anchor="ctr"/>
          <a:lstStyle/>
          <a:p>
            <a:pPr indent="0" marL="0">
              <a:buNone/>
            </a:pPr>
            <a:r>
              <a:rPr lang="en-US" sz="3700" b="1" dirty="0">
                <a:solidFill>
                  <a:srgbClr val="102A2E"/>
                </a:solidFill>
                <a:latin typeface="Aptos" pitchFamily="34" charset="0"/>
                <a:ea typeface="Aptos" pitchFamily="34" charset="-122"/>
                <a:cs typeface="Aptos" pitchFamily="34" charset="-120"/>
              </a:rPr>
              <a:t>2 commandes</a:t>
            </a:r>
            <a:endParaRPr lang="en-US" sz="3700" dirty="0"/>
          </a:p>
        </p:txBody>
      </p:sp>
      <p:sp>
        <p:nvSpPr>
          <p:cNvPr id="13" name="Text 11"/>
          <p:cNvSpPr/>
          <p:nvPr/>
        </p:nvSpPr>
        <p:spPr>
          <a:xfrm>
            <a:off x="877824" y="4572000"/>
            <a:ext cx="4709160" cy="356616"/>
          </a:xfrm>
          <a:prstGeom prst="rect">
            <a:avLst/>
          </a:prstGeom>
          <a:noFill/>
          <a:ln/>
        </p:spPr>
        <p:txBody>
          <a:bodyPr wrap="square" lIns="0" tIns="0" rIns="0" bIns="0" rtlCol="0" anchor="ctr"/>
          <a:lstStyle/>
          <a:p>
            <a:pPr indent="0" marL="0">
              <a:buNone/>
            </a:pPr>
            <a:r>
              <a:rPr lang="en-US" sz="1900" dirty="0">
                <a:solidFill>
                  <a:srgbClr val="486064"/>
                </a:solidFill>
                <a:latin typeface="Aptos" pitchFamily="34" charset="0"/>
                <a:ea typeface="Aptos" pitchFamily="34" charset="-122"/>
                <a:cs typeface="Aptos" pitchFamily="34" charset="-120"/>
              </a:rPr>
              <a:t>Le doublon produit un second effet.</a:t>
            </a:r>
            <a:endParaRPr lang="en-US" sz="1900" dirty="0"/>
          </a:p>
        </p:txBody>
      </p:sp>
      <p:sp>
        <p:nvSpPr>
          <p:cNvPr id="14" name="Shape 12"/>
          <p:cNvSpPr/>
          <p:nvPr/>
        </p:nvSpPr>
        <p:spPr>
          <a:xfrm>
            <a:off x="6163056" y="2880360"/>
            <a:ext cx="5394960" cy="2377440"/>
          </a:xfrm>
          <a:prstGeom prst="roundRect">
            <a:avLst>
              <a:gd name="adj" fmla="val 5385"/>
            </a:avLst>
          </a:prstGeom>
          <a:solidFill>
            <a:srgbClr val="FFFFFF"/>
          </a:solidFill>
          <a:ln w="10160">
            <a:solidFill>
              <a:srgbClr val="087F73"/>
            </a:solidFill>
            <a:prstDash val="solid"/>
          </a:ln>
        </p:spPr>
      </p:sp>
      <p:sp>
        <p:nvSpPr>
          <p:cNvPr id="15" name="Text 13"/>
          <p:cNvSpPr/>
          <p:nvPr/>
        </p:nvSpPr>
        <p:spPr>
          <a:xfrm>
            <a:off x="6437376" y="3136392"/>
            <a:ext cx="4828032" cy="265176"/>
          </a:xfrm>
          <a:prstGeom prst="rect">
            <a:avLst/>
          </a:prstGeom>
          <a:noFill/>
          <a:ln/>
        </p:spPr>
        <p:txBody>
          <a:bodyPr wrap="square" lIns="0" tIns="0" rIns="0" bIns="0" rtlCol="0" anchor="ctr"/>
          <a:lstStyle/>
          <a:p>
            <a:pPr indent="0" marL="0">
              <a:buNone/>
            </a:pPr>
            <a:r>
              <a:rPr lang="en-US" sz="1200" b="1" dirty="0">
                <a:solidFill>
                  <a:srgbClr val="087F73"/>
                </a:solidFill>
                <a:latin typeface="Aptos" pitchFamily="34" charset="0"/>
                <a:ea typeface="Aptos" pitchFamily="34" charset="-122"/>
                <a:cs typeface="Aptos" pitchFamily="34" charset="-120"/>
              </a:rPr>
              <a:t>VERSION CORRIGÉE À VÉRIFIER</a:t>
            </a:r>
            <a:endParaRPr lang="en-US" sz="1200" dirty="0"/>
          </a:p>
        </p:txBody>
      </p:sp>
      <p:sp>
        <p:nvSpPr>
          <p:cNvPr id="16" name="Text 14"/>
          <p:cNvSpPr/>
          <p:nvPr/>
        </p:nvSpPr>
        <p:spPr>
          <a:xfrm>
            <a:off x="6437376" y="3657600"/>
            <a:ext cx="4828032" cy="612648"/>
          </a:xfrm>
          <a:prstGeom prst="rect">
            <a:avLst/>
          </a:prstGeom>
          <a:noFill/>
          <a:ln/>
        </p:spPr>
        <p:txBody>
          <a:bodyPr wrap="square" lIns="0" tIns="0" rIns="0" bIns="0" rtlCol="0" anchor="ctr"/>
          <a:lstStyle/>
          <a:p>
            <a:pPr indent="0" marL="0">
              <a:buNone/>
            </a:pPr>
            <a:r>
              <a:rPr lang="en-US" sz="3700" b="1" dirty="0">
                <a:solidFill>
                  <a:srgbClr val="087F73"/>
                </a:solidFill>
                <a:latin typeface="Aptos" pitchFamily="34" charset="0"/>
                <a:ea typeface="Aptos" pitchFamily="34" charset="-122"/>
                <a:cs typeface="Aptos" pitchFamily="34" charset="-120"/>
              </a:rPr>
              <a:t>1 commande</a:t>
            </a:r>
            <a:endParaRPr lang="en-US" sz="3700" dirty="0"/>
          </a:p>
        </p:txBody>
      </p:sp>
      <p:sp>
        <p:nvSpPr>
          <p:cNvPr id="17" name="Text 15"/>
          <p:cNvSpPr/>
          <p:nvPr/>
        </p:nvSpPr>
        <p:spPr>
          <a:xfrm>
            <a:off x="6437376" y="4489704"/>
            <a:ext cx="4828032" cy="502920"/>
          </a:xfrm>
          <a:prstGeom prst="rect">
            <a:avLst/>
          </a:prstGeom>
          <a:noFill/>
          <a:ln/>
        </p:spPr>
        <p:txBody>
          <a:bodyPr wrap="square" lIns="0" tIns="0" rIns="0" bIns="0" rtlCol="0" anchor="ctr"/>
          <a:lstStyle/>
          <a:p>
            <a:pPr indent="0" marL="0">
              <a:buNone/>
            </a:pPr>
            <a:r>
              <a:rPr lang="en-US" sz="1850" dirty="0">
                <a:solidFill>
                  <a:srgbClr val="486064"/>
                </a:solidFill>
                <a:latin typeface="Aptos" pitchFamily="34" charset="0"/>
                <a:ea typeface="Aptos" pitchFamily="34" charset="-122"/>
                <a:cs typeface="Aptos" pitchFamily="34" charset="-120"/>
              </a:rPr>
              <a:t>Le même événement n’est traité qu’une fois.</a:t>
            </a:r>
            <a:endParaRPr lang="en-US" sz="1850" dirty="0"/>
          </a:p>
        </p:txBody>
      </p:sp>
      <p:sp>
        <p:nvSpPr>
          <p:cNvPr id="18" name="Text 16"/>
          <p:cNvSpPr/>
          <p:nvPr/>
        </p:nvSpPr>
        <p:spPr>
          <a:xfrm>
            <a:off x="640080" y="5513832"/>
            <a:ext cx="10972800" cy="365760"/>
          </a:xfrm>
          <a:prstGeom prst="rect">
            <a:avLst/>
          </a:prstGeom>
          <a:noFill/>
          <a:ln/>
        </p:spPr>
        <p:txBody>
          <a:bodyPr wrap="square" lIns="0" tIns="0" rIns="0" bIns="0" rtlCol="0" anchor="ctr"/>
          <a:lstStyle/>
          <a:p>
            <a:pPr indent="0" marL="0">
              <a:buNone/>
            </a:pPr>
            <a:r>
              <a:rPr lang="en-US" sz="2000" b="1" dirty="0">
                <a:solidFill>
                  <a:srgbClr val="102A2E"/>
                </a:solidFill>
                <a:latin typeface="Aptos" pitchFamily="34" charset="0"/>
                <a:ea typeface="Aptos" pitchFamily="34" charset="-122"/>
                <a:cs typeface="Aptos" pitchFamily="34" charset="-120"/>
              </a:rPr>
              <a:t>Même scénario, mêmes entrées, deux implémentations approuvées.</a:t>
            </a:r>
            <a:endParaRPr lang="en-US" sz="2000" dirty="0"/>
          </a:p>
        </p:txBody>
      </p:sp>
      <p:sp>
        <p:nvSpPr>
          <p:cNvPr id="19" name="Text 17"/>
          <p:cNvSpPr/>
          <p:nvPr/>
        </p:nvSpPr>
        <p:spPr>
          <a:xfrm>
            <a:off x="640080" y="6025896"/>
            <a:ext cx="10945368" cy="182880"/>
          </a:xfrm>
          <a:prstGeom prst="rect">
            <a:avLst/>
          </a:prstGeom>
          <a:noFill/>
          <a:ln/>
        </p:spPr>
        <p:txBody>
          <a:bodyPr wrap="square" lIns="0" tIns="0" rIns="0" bIns="0" rtlCol="0" anchor="ctr"/>
          <a:lstStyle/>
          <a:p>
            <a:pPr indent="0" marL="0">
              <a:buNone/>
            </a:pPr>
            <a:r>
              <a:rPr lang="en-US" sz="1050" dirty="0">
                <a:solidFill>
                  <a:srgbClr val="486064"/>
                </a:solidFill>
                <a:latin typeface="Aptos" pitchFamily="34" charset="0"/>
                <a:ea typeface="Aptos" pitchFamily="34" charset="-122"/>
                <a:cs typeface="Aptos" pitchFamily="34" charset="-120"/>
              </a:rPr>
              <a:t>Résultats attendus de conception. À recalculer réellement ; toutes les capsules ne disposent pas d’un laboratoire.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AVEC LES OUTILS DES DÉVELOPPEURS</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07</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Gardez votre assistant.</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Retrouvez un collectif.</a:t>
            </a:r>
            <a:endParaRPr lang="en-US" sz="3500" dirty="0"/>
          </a:p>
        </p:txBody>
      </p:sp>
      <p:sp>
        <p:nvSpPr>
          <p:cNvPr id="8" name="Shape 6"/>
          <p:cNvSpPr/>
          <p:nvPr/>
        </p:nvSpPr>
        <p:spPr>
          <a:xfrm>
            <a:off x="603504" y="2606040"/>
            <a:ext cx="4873752" cy="2496312"/>
          </a:xfrm>
          <a:prstGeom prst="roundRect">
            <a:avLst>
              <a:gd name="adj" fmla="val 5128"/>
            </a:avLst>
          </a:prstGeom>
          <a:solidFill>
            <a:srgbClr val="FFFFFF"/>
          </a:solidFill>
          <a:ln w="10160">
            <a:solidFill>
              <a:srgbClr val="DCE5DF"/>
            </a:solidFill>
            <a:prstDash val="solid"/>
          </a:ln>
        </p:spPr>
      </p:sp>
      <p:sp>
        <p:nvSpPr>
          <p:cNvPr id="9" name="Text 7"/>
          <p:cNvSpPr/>
          <p:nvPr/>
        </p:nvSpPr>
        <p:spPr>
          <a:xfrm>
            <a:off x="877824" y="2898648"/>
            <a:ext cx="4343400" cy="228600"/>
          </a:xfrm>
          <a:prstGeom prst="rect">
            <a:avLst/>
          </a:prstGeom>
          <a:noFill/>
          <a:ln/>
        </p:spPr>
        <p:txBody>
          <a:bodyPr wrap="square" lIns="0" tIns="0" rIns="0" bIns="0" rtlCol="0" anchor="ctr"/>
          <a:lstStyle/>
          <a:p>
            <a:pPr indent="0" marL="0">
              <a:buNone/>
            </a:pPr>
            <a:r>
              <a:rPr lang="en-US" sz="1200" b="1" dirty="0">
                <a:solidFill>
                  <a:srgbClr val="087F73"/>
                </a:solidFill>
                <a:latin typeface="Aptos" pitchFamily="34" charset="0"/>
                <a:ea typeface="Aptos" pitchFamily="34" charset="-122"/>
                <a:cs typeface="Aptos" pitchFamily="34" charset="-120"/>
              </a:rPr>
              <a:t>VOTRE MANIÈRE DE TRAVAILLER</a:t>
            </a:r>
            <a:endParaRPr lang="en-US" sz="1200" dirty="0"/>
          </a:p>
        </p:txBody>
      </p:sp>
      <p:sp>
        <p:nvSpPr>
          <p:cNvPr id="10" name="Text 8"/>
          <p:cNvSpPr/>
          <p:nvPr/>
        </p:nvSpPr>
        <p:spPr>
          <a:xfrm>
            <a:off x="877824" y="3483864"/>
            <a:ext cx="4306824" cy="1261872"/>
          </a:xfrm>
          <a:prstGeom prst="rect">
            <a:avLst/>
          </a:prstGeom>
          <a:noFill/>
          <a:ln/>
        </p:spPr>
        <p:txBody>
          <a:bodyPr wrap="square" lIns="0" tIns="0" rIns="0" bIns="0" rtlCol="0" anchor="ctr"/>
          <a:lstStyle/>
          <a:p>
            <a:pPr indent="0" marL="0">
              <a:buNone/>
            </a:pPr>
            <a:r>
              <a:rPr lang="en-US" sz="2800" b="1" dirty="0">
                <a:solidFill>
                  <a:srgbClr val="102A2E"/>
                </a:solidFill>
                <a:latin typeface="Aptos" pitchFamily="34" charset="0"/>
                <a:ea typeface="Aptos" pitchFamily="34" charset="-122"/>
                <a:cs typeface="Aptos" pitchFamily="34" charset="-120"/>
              </a:rPr>
              <a:t>Votre projet.</a:t>
            </a:r>
            <a:endParaRPr lang="en-US" sz="2800" dirty="0"/>
          </a:p>
          <a:p>
            <a:pPr indent="0" marL="0">
              <a:buNone/>
            </a:pPr>
            <a:r>
              <a:rPr lang="en-US" sz="2800" b="1" dirty="0">
                <a:solidFill>
                  <a:srgbClr val="102A2E"/>
                </a:solidFill>
                <a:latin typeface="Aptos" pitchFamily="34" charset="0"/>
                <a:ea typeface="Aptos" pitchFamily="34" charset="-122"/>
                <a:cs typeface="Aptos" pitchFamily="34" charset="-120"/>
              </a:rPr>
              <a:t>Vos outils.</a:t>
            </a:r>
            <a:endParaRPr lang="en-US" sz="2800" dirty="0"/>
          </a:p>
          <a:p>
            <a:pPr indent="0" marL="0">
              <a:buNone/>
            </a:pPr>
            <a:r>
              <a:rPr lang="en-US" sz="2800" b="1" dirty="0">
                <a:solidFill>
                  <a:srgbClr val="102A2E"/>
                </a:solidFill>
                <a:latin typeface="Aptos" pitchFamily="34" charset="0"/>
                <a:ea typeface="Aptos" pitchFamily="34" charset="-122"/>
                <a:cs typeface="Aptos" pitchFamily="34" charset="-120"/>
              </a:rPr>
              <a:t>Vos idées.</a:t>
            </a:r>
            <a:endParaRPr lang="en-US" sz="2800" dirty="0"/>
          </a:p>
        </p:txBody>
      </p:sp>
      <p:sp>
        <p:nvSpPr>
          <p:cNvPr id="11" name="Text 9"/>
          <p:cNvSpPr/>
          <p:nvPr/>
        </p:nvSpPr>
        <p:spPr>
          <a:xfrm>
            <a:off x="5669280" y="3401568"/>
            <a:ext cx="685800" cy="694944"/>
          </a:xfrm>
          <a:prstGeom prst="rect">
            <a:avLst/>
          </a:prstGeom>
          <a:noFill/>
          <a:ln/>
        </p:spPr>
        <p:txBody>
          <a:bodyPr wrap="square" lIns="0" tIns="0" rIns="0" bIns="0" rtlCol="0" anchor="ctr"/>
          <a:lstStyle/>
          <a:p>
            <a:pPr algn="ctr" indent="0" marL="0">
              <a:buNone/>
            </a:pPr>
            <a:r>
              <a:rPr lang="en-US" sz="4000" b="1" dirty="0">
                <a:solidFill>
                  <a:srgbClr val="087F73"/>
                </a:solidFill>
                <a:latin typeface="Aptos" pitchFamily="34" charset="0"/>
                <a:ea typeface="Aptos" pitchFamily="34" charset="-122"/>
                <a:cs typeface="Aptos" pitchFamily="34" charset="-120"/>
              </a:rPr>
              <a:t>+</a:t>
            </a:r>
            <a:endParaRPr lang="en-US" sz="4000" dirty="0"/>
          </a:p>
        </p:txBody>
      </p:sp>
      <p:sp>
        <p:nvSpPr>
          <p:cNvPr id="12" name="Shape 10"/>
          <p:cNvSpPr/>
          <p:nvPr/>
        </p:nvSpPr>
        <p:spPr>
          <a:xfrm>
            <a:off x="6574536" y="2606040"/>
            <a:ext cx="4974336" cy="2496312"/>
          </a:xfrm>
          <a:prstGeom prst="roundRect">
            <a:avLst>
              <a:gd name="adj" fmla="val 5128"/>
            </a:avLst>
          </a:prstGeom>
          <a:solidFill>
            <a:srgbClr val="102A2E"/>
          </a:solidFill>
          <a:ln w="10160">
            <a:solidFill>
              <a:srgbClr val="102A2E"/>
            </a:solidFill>
            <a:prstDash val="solid"/>
          </a:ln>
        </p:spPr>
      </p:sp>
      <p:sp>
        <p:nvSpPr>
          <p:cNvPr id="13" name="Text 11"/>
          <p:cNvSpPr/>
          <p:nvPr/>
        </p:nvSpPr>
        <p:spPr>
          <a:xfrm>
            <a:off x="6858000" y="2898648"/>
            <a:ext cx="4416552" cy="228600"/>
          </a:xfrm>
          <a:prstGeom prst="rect">
            <a:avLst/>
          </a:prstGeom>
          <a:noFill/>
          <a:ln/>
        </p:spPr>
        <p:txBody>
          <a:bodyPr wrap="square" lIns="0" tIns="0" rIns="0" bIns="0" rtlCol="0" anchor="ctr"/>
          <a:lstStyle/>
          <a:p>
            <a:pPr indent="0" marL="0">
              <a:buNone/>
            </a:pPr>
            <a:r>
              <a:rPr lang="en-US" sz="1200" b="1" dirty="0">
                <a:solidFill>
                  <a:srgbClr val="BFE8D5"/>
                </a:solidFill>
                <a:latin typeface="Aptos" pitchFamily="34" charset="0"/>
                <a:ea typeface="Aptos" pitchFamily="34" charset="-122"/>
                <a:cs typeface="Aptos" pitchFamily="34" charset="-120"/>
              </a:rPr>
              <a:t>LA COMMUNAUTÉ HAAS</a:t>
            </a:r>
            <a:endParaRPr lang="en-US" sz="1200" dirty="0"/>
          </a:p>
        </p:txBody>
      </p:sp>
      <p:sp>
        <p:nvSpPr>
          <p:cNvPr id="14" name="Text 12"/>
          <p:cNvSpPr/>
          <p:nvPr/>
        </p:nvSpPr>
        <p:spPr>
          <a:xfrm>
            <a:off x="6858000" y="3483864"/>
            <a:ext cx="4416552" cy="1261872"/>
          </a:xfrm>
          <a:prstGeom prst="rect">
            <a:avLst/>
          </a:prstGeom>
          <a:noFill/>
          <a:ln/>
        </p:spPr>
        <p:txBody>
          <a:bodyPr wrap="square" lIns="0" tIns="0" rIns="0" bIns="0" rtlCol="0" anchor="ctr"/>
          <a:lstStyle/>
          <a:p>
            <a:pPr indent="0" marL="0">
              <a:buNone/>
            </a:pPr>
            <a:r>
              <a:rPr lang="en-US" sz="2600" b="1" dirty="0">
                <a:solidFill>
                  <a:srgbClr val="FFFFFF"/>
                </a:solidFill>
                <a:latin typeface="Aptos" pitchFamily="34" charset="0"/>
                <a:ea typeface="Aptos" pitchFamily="34" charset="-122"/>
                <a:cs typeface="Aptos" pitchFamily="34" charset="-120"/>
              </a:rPr>
              <a:t>Un autre regard.</a:t>
            </a:r>
            <a:endParaRPr lang="en-US" sz="2600" dirty="0"/>
          </a:p>
          <a:p>
            <a:pPr indent="0" marL="0">
              <a:buNone/>
            </a:pPr>
            <a:r>
              <a:rPr lang="en-US" sz="2600" b="1" dirty="0">
                <a:solidFill>
                  <a:srgbClr val="FFFFFF"/>
                </a:solidFill>
                <a:latin typeface="Aptos" pitchFamily="34" charset="0"/>
                <a:ea typeface="Aptos" pitchFamily="34" charset="-122"/>
                <a:cs typeface="Aptos" pitchFamily="34" charset="-120"/>
              </a:rPr>
              <a:t>Des cas concrets.</a:t>
            </a:r>
            <a:endParaRPr lang="en-US" sz="2600" dirty="0"/>
          </a:p>
          <a:p>
            <a:pPr indent="0" marL="0">
              <a:buNone/>
            </a:pPr>
            <a:r>
              <a:rPr lang="en-US" sz="2600" b="1" dirty="0">
                <a:solidFill>
                  <a:srgbClr val="FFFFFF"/>
                </a:solidFill>
                <a:latin typeface="Aptos" pitchFamily="34" charset="0"/>
                <a:ea typeface="Aptos" pitchFamily="34" charset="-122"/>
                <a:cs typeface="Aptos" pitchFamily="34" charset="-120"/>
              </a:rPr>
              <a:t>Une mémoire partagée.</a:t>
            </a:r>
            <a:endParaRPr lang="en-US" sz="2600" dirty="0"/>
          </a:p>
        </p:txBody>
      </p:sp>
      <p:sp>
        <p:nvSpPr>
          <p:cNvPr id="15" name="Text 13"/>
          <p:cNvSpPr/>
          <p:nvPr/>
        </p:nvSpPr>
        <p:spPr>
          <a:xfrm>
            <a:off x="640080" y="5687568"/>
            <a:ext cx="10917936" cy="484632"/>
          </a:xfrm>
          <a:prstGeom prst="rect">
            <a:avLst/>
          </a:prstGeom>
          <a:noFill/>
          <a:ln/>
        </p:spPr>
        <p:txBody>
          <a:bodyPr wrap="square" lIns="0" tIns="0" rIns="0" bIns="0" rtlCol="0" anchor="ctr"/>
          <a:lstStyle/>
          <a:p>
            <a:pPr indent="0" marL="0">
              <a:buNone/>
            </a:pPr>
            <a:r>
              <a:rPr lang="en-US" sz="1800" dirty="0">
                <a:solidFill>
                  <a:srgbClr val="486064"/>
                </a:solidFill>
                <a:latin typeface="Aptos" pitchFamily="34" charset="0"/>
                <a:ea typeface="Aptos" pitchFamily="34" charset="-122"/>
                <a:cs typeface="Aptos" pitchFamily="34" charset="-120"/>
              </a:rPr>
              <a:t>Notre valeur à vérifier : rendre les contributions extérieures faciles à trouver et à utiliser.</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UNE ARCHITECTURE MAÎTRISÉE À DEUX</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08</a:t>
            </a:r>
            <a:endParaRPr lang="en-US" sz="1100" dirty="0"/>
          </a:p>
        </p:txBody>
      </p:sp>
      <p:sp>
        <p:nvSpPr>
          <p:cNvPr id="7" name="Text 5"/>
          <p:cNvSpPr/>
          <p:nvPr/>
        </p:nvSpPr>
        <p:spPr>
          <a:xfrm>
            <a:off x="566928" y="914400"/>
            <a:ext cx="11018520" cy="1005840"/>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Vercel pour l’interface.</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Systalink pour le backend.</a:t>
            </a:r>
            <a:endParaRPr lang="en-US" sz="3500" dirty="0"/>
          </a:p>
        </p:txBody>
      </p:sp>
      <p:sp>
        <p:nvSpPr>
          <p:cNvPr id="8" name="Shape 6"/>
          <p:cNvSpPr/>
          <p:nvPr/>
        </p:nvSpPr>
        <p:spPr>
          <a:xfrm>
            <a:off x="594360" y="2496312"/>
            <a:ext cx="3163824" cy="2414016"/>
          </a:xfrm>
          <a:prstGeom prst="roundRect">
            <a:avLst>
              <a:gd name="adj" fmla="val 5303"/>
            </a:avLst>
          </a:prstGeom>
          <a:solidFill>
            <a:srgbClr val="FFFFFF"/>
          </a:solidFill>
          <a:ln w="10160">
            <a:solidFill>
              <a:srgbClr val="DCE5DF"/>
            </a:solidFill>
            <a:prstDash val="solid"/>
          </a:ln>
        </p:spPr>
      </p:sp>
      <p:sp>
        <p:nvSpPr>
          <p:cNvPr id="9" name="Text 7"/>
          <p:cNvSpPr/>
          <p:nvPr/>
        </p:nvSpPr>
        <p:spPr>
          <a:xfrm>
            <a:off x="850392" y="2770632"/>
            <a:ext cx="2660904" cy="283464"/>
          </a:xfrm>
          <a:prstGeom prst="rect">
            <a:avLst/>
          </a:prstGeom>
          <a:noFill/>
          <a:ln/>
        </p:spPr>
        <p:txBody>
          <a:bodyPr wrap="square" lIns="0" tIns="0" rIns="0" bIns="0" rtlCol="0" anchor="ctr"/>
          <a:lstStyle/>
          <a:p>
            <a:pPr indent="0" marL="0">
              <a:buNone/>
            </a:pPr>
            <a:r>
              <a:rPr lang="en-US" sz="1300" b="1" dirty="0">
                <a:solidFill>
                  <a:srgbClr val="087F73"/>
                </a:solidFill>
                <a:latin typeface="Aptos" pitchFamily="34" charset="0"/>
                <a:ea typeface="Aptos" pitchFamily="34" charset="-122"/>
                <a:cs typeface="Aptos" pitchFamily="34" charset="-120"/>
              </a:rPr>
              <a:t>VERCEL</a:t>
            </a:r>
            <a:endParaRPr lang="en-US" sz="1300" dirty="0"/>
          </a:p>
        </p:txBody>
      </p:sp>
      <p:sp>
        <p:nvSpPr>
          <p:cNvPr id="10" name="Text 8"/>
          <p:cNvSpPr/>
          <p:nvPr/>
        </p:nvSpPr>
        <p:spPr>
          <a:xfrm>
            <a:off x="850392" y="3419856"/>
            <a:ext cx="2660904" cy="795528"/>
          </a:xfrm>
          <a:prstGeom prst="rect">
            <a:avLst/>
          </a:prstGeom>
          <a:noFill/>
          <a:ln/>
        </p:spPr>
        <p:txBody>
          <a:bodyPr wrap="square" lIns="0" tIns="0" rIns="0" bIns="0" rtlCol="0" anchor="ctr"/>
          <a:lstStyle/>
          <a:p>
            <a:pPr indent="0" marL="0">
              <a:buNone/>
            </a:pPr>
            <a:r>
              <a:rPr lang="en-US" sz="2900" b="1" dirty="0">
                <a:solidFill>
                  <a:srgbClr val="102A2E"/>
                </a:solidFill>
                <a:latin typeface="Aptos" pitchFamily="34" charset="0"/>
                <a:ea typeface="Aptos" pitchFamily="34" charset="-122"/>
                <a:cs typeface="Aptos" pitchFamily="34" charset="-120"/>
              </a:rPr>
              <a:t>React</a:t>
            </a:r>
            <a:endParaRPr lang="en-US" sz="2900" dirty="0"/>
          </a:p>
          <a:p>
            <a:pPr indent="0" marL="0">
              <a:buNone/>
            </a:pPr>
            <a:r>
              <a:rPr lang="en-US" sz="2900" b="1" dirty="0">
                <a:solidFill>
                  <a:srgbClr val="102A2E"/>
                </a:solidFill>
                <a:latin typeface="Aptos" pitchFamily="34" charset="0"/>
                <a:ea typeface="Aptos" pitchFamily="34" charset="-122"/>
                <a:cs typeface="Aptos" pitchFamily="34" charset="-120"/>
              </a:rPr>
              <a:t>TypeScript</a:t>
            </a:r>
            <a:endParaRPr lang="en-US" sz="2900" dirty="0"/>
          </a:p>
        </p:txBody>
      </p:sp>
      <p:sp>
        <p:nvSpPr>
          <p:cNvPr id="11" name="Text 9"/>
          <p:cNvSpPr/>
          <p:nvPr/>
        </p:nvSpPr>
        <p:spPr>
          <a:xfrm>
            <a:off x="850392" y="4507992"/>
            <a:ext cx="2660904" cy="182880"/>
          </a:xfrm>
          <a:prstGeom prst="rect">
            <a:avLst/>
          </a:prstGeom>
          <a:noFill/>
          <a:ln/>
        </p:spPr>
        <p:txBody>
          <a:bodyPr wrap="square" lIns="0" tIns="0" rIns="0" bIns="0" rtlCol="0" anchor="ctr"/>
          <a:lstStyle/>
          <a:p>
            <a:pPr indent="0" marL="0">
              <a:buNone/>
            </a:pPr>
            <a:r>
              <a:rPr lang="en-US" sz="1200" dirty="0">
                <a:solidFill>
                  <a:srgbClr val="486064"/>
                </a:solidFill>
                <a:latin typeface="Aptos" pitchFamily="34" charset="0"/>
                <a:ea typeface="Aptos" pitchFamily="34" charset="-122"/>
                <a:cs typeface="Aptos" pitchFamily="34" charset="-120"/>
              </a:rPr>
              <a:t>Interface dans le navigateur</a:t>
            </a:r>
            <a:endParaRPr lang="en-US" sz="1200" dirty="0"/>
          </a:p>
        </p:txBody>
      </p:sp>
      <p:sp>
        <p:nvSpPr>
          <p:cNvPr id="12" name="Shape 10"/>
          <p:cNvSpPr/>
          <p:nvPr/>
        </p:nvSpPr>
        <p:spPr>
          <a:xfrm>
            <a:off x="3803904" y="3739896"/>
            <a:ext cx="905256" cy="0"/>
          </a:xfrm>
          <a:prstGeom prst="line">
            <a:avLst/>
          </a:prstGeom>
          <a:noFill/>
          <a:ln w="25400">
            <a:solidFill>
              <a:srgbClr val="087F73"/>
            </a:solidFill>
            <a:prstDash val="solid"/>
            <a:headEnd type="none"/>
            <a:tailEnd type="triangle"/>
          </a:ln>
        </p:spPr>
      </p:sp>
      <p:sp>
        <p:nvSpPr>
          <p:cNvPr id="13" name="Text 11"/>
          <p:cNvSpPr/>
          <p:nvPr/>
        </p:nvSpPr>
        <p:spPr>
          <a:xfrm>
            <a:off x="3840480" y="3154680"/>
            <a:ext cx="841248" cy="420624"/>
          </a:xfrm>
          <a:prstGeom prst="rect">
            <a:avLst/>
          </a:prstGeom>
          <a:noFill/>
          <a:ln/>
        </p:spPr>
        <p:txBody>
          <a:bodyPr wrap="square" lIns="0" tIns="0" rIns="0" bIns="0" rtlCol="0" anchor="ctr"/>
          <a:lstStyle/>
          <a:p>
            <a:pPr algn="ctr" indent="0" marL="0">
              <a:buNone/>
            </a:pPr>
            <a:r>
              <a:rPr lang="en-US" sz="1150" dirty="0">
                <a:solidFill>
                  <a:srgbClr val="486064"/>
                </a:solidFill>
                <a:latin typeface="Aptos" pitchFamily="34" charset="0"/>
                <a:ea typeface="Aptos" pitchFamily="34" charset="-122"/>
                <a:cs typeface="Aptos" pitchFamily="34" charset="-120"/>
              </a:rPr>
              <a:t>API HTTPS</a:t>
            </a:r>
            <a:endParaRPr lang="en-US" sz="1150" dirty="0"/>
          </a:p>
        </p:txBody>
      </p:sp>
      <p:sp>
        <p:nvSpPr>
          <p:cNvPr id="14" name="Shape 12"/>
          <p:cNvSpPr/>
          <p:nvPr/>
        </p:nvSpPr>
        <p:spPr>
          <a:xfrm>
            <a:off x="4754880" y="2496312"/>
            <a:ext cx="3877056" cy="2414016"/>
          </a:xfrm>
          <a:prstGeom prst="roundRect">
            <a:avLst>
              <a:gd name="adj" fmla="val 5303"/>
            </a:avLst>
          </a:prstGeom>
          <a:solidFill>
            <a:srgbClr val="102A2E"/>
          </a:solidFill>
          <a:ln w="10160">
            <a:solidFill>
              <a:srgbClr val="102A2E"/>
            </a:solidFill>
            <a:prstDash val="solid"/>
          </a:ln>
        </p:spPr>
      </p:sp>
      <p:sp>
        <p:nvSpPr>
          <p:cNvPr id="15" name="Text 13"/>
          <p:cNvSpPr/>
          <p:nvPr/>
        </p:nvSpPr>
        <p:spPr>
          <a:xfrm>
            <a:off x="5029200" y="2770632"/>
            <a:ext cx="3310128" cy="283464"/>
          </a:xfrm>
          <a:prstGeom prst="rect">
            <a:avLst/>
          </a:prstGeom>
          <a:noFill/>
          <a:ln/>
        </p:spPr>
        <p:txBody>
          <a:bodyPr wrap="square" lIns="0" tIns="0" rIns="0" bIns="0" rtlCol="0" anchor="ctr"/>
          <a:lstStyle/>
          <a:p>
            <a:pPr indent="0" marL="0">
              <a:buNone/>
            </a:pPr>
            <a:r>
              <a:rPr lang="en-US" sz="1300" b="1" dirty="0">
                <a:solidFill>
                  <a:srgbClr val="BFE8D5"/>
                </a:solidFill>
                <a:latin typeface="Aptos" pitchFamily="34" charset="0"/>
                <a:ea typeface="Aptos" pitchFamily="34" charset="-122"/>
                <a:cs typeface="Aptos" pitchFamily="34" charset="-120"/>
              </a:rPr>
              <a:t>UN VPS SYSTALINK</a:t>
            </a:r>
            <a:endParaRPr lang="en-US" sz="1300" dirty="0"/>
          </a:p>
        </p:txBody>
      </p:sp>
      <p:sp>
        <p:nvSpPr>
          <p:cNvPr id="16" name="Text 14"/>
          <p:cNvSpPr/>
          <p:nvPr/>
        </p:nvSpPr>
        <p:spPr>
          <a:xfrm>
            <a:off x="5029200" y="3355848"/>
            <a:ext cx="3291840" cy="685800"/>
          </a:xfrm>
          <a:prstGeom prst="rect">
            <a:avLst/>
          </a:prstGeom>
          <a:noFill/>
          <a:ln/>
        </p:spPr>
        <p:txBody>
          <a:bodyPr wrap="square" lIns="0" tIns="0" rIns="0" bIns="0" rtlCol="0" anchor="ctr"/>
          <a:lstStyle/>
          <a:p>
            <a:pPr indent="0" marL="0">
              <a:buNone/>
            </a:pPr>
            <a:r>
              <a:rPr lang="en-US" sz="2500" b="1" dirty="0">
                <a:solidFill>
                  <a:srgbClr val="FFFFFF"/>
                </a:solidFill>
                <a:latin typeface="Aptos" pitchFamily="34" charset="0"/>
                <a:ea typeface="Aptos" pitchFamily="34" charset="-122"/>
                <a:cs typeface="Aptos" pitchFamily="34" charset="-120"/>
              </a:rPr>
              <a:t>Laravel + PostgreSQL</a:t>
            </a:r>
            <a:endParaRPr lang="en-US" sz="2500" dirty="0"/>
          </a:p>
        </p:txBody>
      </p:sp>
      <p:sp>
        <p:nvSpPr>
          <p:cNvPr id="17" name="Text 15"/>
          <p:cNvSpPr/>
          <p:nvPr/>
        </p:nvSpPr>
        <p:spPr>
          <a:xfrm>
            <a:off x="5029200" y="4187952"/>
            <a:ext cx="3310128" cy="493776"/>
          </a:xfrm>
          <a:prstGeom prst="rect">
            <a:avLst/>
          </a:prstGeom>
          <a:noFill/>
          <a:ln/>
        </p:spPr>
        <p:txBody>
          <a:bodyPr wrap="square" lIns="0" tIns="0" rIns="0" bIns="0" rtlCol="0" anchor="ctr"/>
          <a:lstStyle/>
          <a:p>
            <a:pPr indent="0" marL="0">
              <a:buNone/>
            </a:pPr>
            <a:r>
              <a:rPr lang="en-US" sz="1600" dirty="0">
                <a:solidFill>
                  <a:srgbClr val="FFFFFF"/>
                </a:solidFill>
                <a:latin typeface="Aptos" pitchFamily="34" charset="0"/>
                <a:ea typeface="Aptos" pitchFamily="34" charset="-122"/>
                <a:cs typeface="Aptos" pitchFamily="34" charset="-120"/>
              </a:rPr>
              <a:t>Runner local restreint</a:t>
            </a:r>
            <a:endParaRPr lang="en-US" sz="1600" dirty="0"/>
          </a:p>
          <a:p>
            <a:pPr indent="0" marL="0">
              <a:buNone/>
            </a:pPr>
            <a:r>
              <a:rPr lang="en-US" sz="1600" dirty="0">
                <a:solidFill>
                  <a:srgbClr val="FFFFFF"/>
                </a:solidFill>
                <a:latin typeface="Aptos" pitchFamily="34" charset="0"/>
                <a:ea typeface="Aptos" pitchFamily="34" charset="-122"/>
                <a:cs typeface="Aptos" pitchFamily="34" charset="-120"/>
              </a:rPr>
              <a:t>Une exécution à la fois</a:t>
            </a:r>
            <a:endParaRPr lang="en-US" sz="1600" dirty="0"/>
          </a:p>
        </p:txBody>
      </p:sp>
      <p:sp>
        <p:nvSpPr>
          <p:cNvPr id="18" name="Shape 16"/>
          <p:cNvSpPr/>
          <p:nvPr/>
        </p:nvSpPr>
        <p:spPr>
          <a:xfrm>
            <a:off x="8668512" y="3739896"/>
            <a:ext cx="530352" cy="0"/>
          </a:xfrm>
          <a:prstGeom prst="line">
            <a:avLst/>
          </a:prstGeom>
          <a:noFill/>
          <a:ln w="22860">
            <a:solidFill>
              <a:srgbClr val="087F73"/>
            </a:solidFill>
            <a:prstDash val="solid"/>
            <a:headEnd type="none"/>
            <a:tailEnd type="triangle"/>
          </a:ln>
        </p:spPr>
      </p:sp>
      <p:sp>
        <p:nvSpPr>
          <p:cNvPr id="19" name="Shape 17"/>
          <p:cNvSpPr/>
          <p:nvPr/>
        </p:nvSpPr>
        <p:spPr>
          <a:xfrm>
            <a:off x="9235440" y="2862072"/>
            <a:ext cx="2313432" cy="1618488"/>
          </a:xfrm>
          <a:prstGeom prst="roundRect">
            <a:avLst>
              <a:gd name="adj" fmla="val 7910"/>
            </a:avLst>
          </a:prstGeom>
          <a:solidFill>
            <a:srgbClr val="FFFFFF"/>
          </a:solidFill>
          <a:ln w="10160">
            <a:solidFill>
              <a:srgbClr val="DCE5DF"/>
            </a:solidFill>
            <a:prstDash val="solid"/>
          </a:ln>
        </p:spPr>
      </p:sp>
      <p:sp>
        <p:nvSpPr>
          <p:cNvPr id="20" name="Text 18"/>
          <p:cNvSpPr/>
          <p:nvPr/>
        </p:nvSpPr>
        <p:spPr>
          <a:xfrm>
            <a:off x="9445752" y="3118104"/>
            <a:ext cx="1883664" cy="612648"/>
          </a:xfrm>
          <a:prstGeom prst="rect">
            <a:avLst/>
          </a:prstGeom>
          <a:noFill/>
          <a:ln/>
        </p:spPr>
        <p:txBody>
          <a:bodyPr wrap="square" lIns="0" tIns="0" rIns="0" bIns="0" rtlCol="0" anchor="ctr"/>
          <a:lstStyle/>
          <a:p>
            <a:pPr indent="0" marL="0">
              <a:buNone/>
            </a:pPr>
            <a:r>
              <a:rPr lang="en-US" sz="1850" b="1" dirty="0">
                <a:solidFill>
                  <a:srgbClr val="102A2E"/>
                </a:solidFill>
                <a:latin typeface="Aptos" pitchFamily="34" charset="0"/>
                <a:ea typeface="Aptos" pitchFamily="34" charset="-122"/>
                <a:cs typeface="Aptos" pitchFamily="34" charset="-120"/>
              </a:rPr>
              <a:t>SAUVEGARDE</a:t>
            </a:r>
            <a:endParaRPr lang="en-US" sz="1850" dirty="0"/>
          </a:p>
          <a:p>
            <a:pPr indent="0" marL="0">
              <a:buNone/>
            </a:pPr>
            <a:r>
              <a:rPr lang="en-US" sz="1850" b="1" dirty="0">
                <a:solidFill>
                  <a:srgbClr val="102A2E"/>
                </a:solidFill>
                <a:latin typeface="Aptos" pitchFamily="34" charset="0"/>
                <a:ea typeface="Aptos" pitchFamily="34" charset="-122"/>
                <a:cs typeface="Aptos" pitchFamily="34" charset="-120"/>
              </a:rPr>
              <a:t>DISTANTE</a:t>
            </a:r>
            <a:endParaRPr lang="en-US" sz="1850" dirty="0"/>
          </a:p>
        </p:txBody>
      </p:sp>
      <p:sp>
        <p:nvSpPr>
          <p:cNvPr id="21" name="Text 19"/>
          <p:cNvSpPr/>
          <p:nvPr/>
        </p:nvSpPr>
        <p:spPr>
          <a:xfrm>
            <a:off x="9445752" y="4023360"/>
            <a:ext cx="1883664" cy="182880"/>
          </a:xfrm>
          <a:prstGeom prst="rect">
            <a:avLst/>
          </a:prstGeom>
          <a:noFill/>
          <a:ln/>
        </p:spPr>
        <p:txBody>
          <a:bodyPr wrap="square" lIns="0" tIns="0" rIns="0" bIns="0" rtlCol="0" anchor="ctr"/>
          <a:lstStyle/>
          <a:p>
            <a:pPr indent="0" marL="0">
              <a:buNone/>
            </a:pPr>
            <a:r>
              <a:rPr lang="en-US" sz="1080" dirty="0">
                <a:solidFill>
                  <a:srgbClr val="486064"/>
                </a:solidFill>
                <a:latin typeface="Aptos" pitchFamily="34" charset="0"/>
                <a:ea typeface="Aptos" pitchFamily="34" charset="-122"/>
                <a:cs typeface="Aptos" pitchFamily="34" charset="-120"/>
              </a:rPr>
              <a:t>Chiffrée · à restaurer</a:t>
            </a:r>
            <a:endParaRPr lang="en-US" sz="1080" dirty="0"/>
          </a:p>
        </p:txBody>
      </p:sp>
      <p:sp>
        <p:nvSpPr>
          <p:cNvPr id="22" name="Shape 20"/>
          <p:cNvSpPr/>
          <p:nvPr/>
        </p:nvSpPr>
        <p:spPr>
          <a:xfrm>
            <a:off x="594360" y="5230368"/>
            <a:ext cx="10954512" cy="594360"/>
          </a:xfrm>
          <a:prstGeom prst="roundRect">
            <a:avLst>
              <a:gd name="adj" fmla="val 21538"/>
            </a:avLst>
          </a:prstGeom>
          <a:solidFill>
            <a:srgbClr val="BFE8D5"/>
          </a:solidFill>
          <a:ln w="10160">
            <a:solidFill>
              <a:srgbClr val="BFE8D5"/>
            </a:solidFill>
            <a:prstDash val="solid"/>
          </a:ln>
        </p:spPr>
      </p:sp>
      <p:sp>
        <p:nvSpPr>
          <p:cNvPr id="23" name="Text 21"/>
          <p:cNvSpPr/>
          <p:nvPr/>
        </p:nvSpPr>
        <p:spPr>
          <a:xfrm>
            <a:off x="850392" y="5413248"/>
            <a:ext cx="10460736" cy="201168"/>
          </a:xfrm>
          <a:prstGeom prst="rect">
            <a:avLst/>
          </a:prstGeom>
          <a:noFill/>
          <a:ln/>
        </p:spPr>
        <p:txBody>
          <a:bodyPr wrap="square" lIns="0" tIns="0" rIns="0" bIns="0" rtlCol="0" anchor="ctr"/>
          <a:lstStyle/>
          <a:p>
            <a:pPr indent="0" marL="0">
              <a:buNone/>
            </a:pPr>
            <a:r>
              <a:rPr lang="en-US" sz="1550" b="1" dirty="0">
                <a:solidFill>
                  <a:srgbClr val="102A2E"/>
                </a:solidFill>
                <a:latin typeface="Aptos" pitchFamily="34" charset="0"/>
                <a:ea typeface="Aptos" pitchFamily="34" charset="-122"/>
                <a:cs typeface="Aptos" pitchFamily="34" charset="-120"/>
              </a:rPr>
              <a:t>GitHub Actions + Qodana Ultimate   ·   Tests   ·   Revue croisée   ·   Livraison contrôlée</a:t>
            </a:r>
            <a:endParaRPr lang="en-US" sz="1550" dirty="0"/>
          </a:p>
        </p:txBody>
      </p:sp>
      <p:sp>
        <p:nvSpPr>
          <p:cNvPr id="24" name="Text 22"/>
          <p:cNvSpPr/>
          <p:nvPr/>
        </p:nvSpPr>
        <p:spPr>
          <a:xfrm>
            <a:off x="630936" y="6053328"/>
            <a:ext cx="10917936" cy="164592"/>
          </a:xfrm>
          <a:prstGeom prst="rect">
            <a:avLst/>
          </a:prstGeom>
          <a:noFill/>
          <a:ln/>
        </p:spPr>
        <p:txBody>
          <a:bodyPr wrap="square" lIns="0" tIns="0" rIns="0" bIns="0" rtlCol="0" anchor="ctr"/>
          <a:lstStyle/>
          <a:p>
            <a:pPr indent="0" marL="0">
              <a:buNone/>
            </a:pPr>
            <a:r>
              <a:rPr lang="en-US" sz="1040" dirty="0">
                <a:solidFill>
                  <a:srgbClr val="486064"/>
                </a:solidFill>
                <a:latin typeface="Aptos" pitchFamily="34" charset="0"/>
                <a:ea typeface="Aptos" pitchFamily="34" charset="-122"/>
                <a:cs typeface="Aptos" pitchFamily="34" charset="-120"/>
              </a:rPr>
              <a:t>Architecture cible. Un seul serveur, sans promesse de haute disponibilité ; configuration et isolation à vérifier.</a:t>
            </a:r>
            <a:endParaRPr lang="en-US" sz="10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4"/>
        </a:solidFill>
      </p:bgPr>
    </p:bg>
    <p:spTree>
      <p:nvGrpSpPr>
        <p:cNvPr id="1" name=""/>
        <p:cNvGrpSpPr/>
        <p:nvPr/>
      </p:nvGrpSpPr>
      <p:grpSpPr>
        <a:xfrm>
          <a:off x="0" y="0"/>
          <a:ext cx="0" cy="0"/>
          <a:chOff x="0" y="0"/>
          <a:chExt cx="0" cy="0"/>
        </a:xfrm>
      </p:grpSpPr>
      <p:sp>
        <p:nvSpPr>
          <p:cNvPr id="2" name="Text 0"/>
          <p:cNvSpPr/>
          <p:nvPr/>
        </p:nvSpPr>
        <p:spPr>
          <a:xfrm>
            <a:off x="512064" y="265176"/>
            <a:ext cx="1143000" cy="292608"/>
          </a:xfrm>
          <a:prstGeom prst="rect">
            <a:avLst/>
          </a:prstGeom>
          <a:noFill/>
          <a:ln/>
        </p:spPr>
        <p:txBody>
          <a:bodyPr wrap="square" lIns="0" tIns="0" rIns="0" bIns="0" rtlCol="0" anchor="ctr"/>
          <a:lstStyle/>
          <a:p>
            <a:pPr indent="0" marL="0">
              <a:buNone/>
            </a:pPr>
            <a:r>
              <a:rPr lang="en-US" sz="1900" b="1" dirty="0">
                <a:solidFill>
                  <a:srgbClr val="102A2E"/>
                </a:solidFill>
                <a:latin typeface="Aptos" pitchFamily="34" charset="0"/>
                <a:ea typeface="Aptos" pitchFamily="34" charset="-122"/>
                <a:cs typeface="Aptos" pitchFamily="34" charset="-120"/>
              </a:rPr>
              <a:t>HAAS</a:t>
            </a:r>
            <a:endParaRPr lang="en-US" sz="1900" dirty="0"/>
          </a:p>
        </p:txBody>
      </p:sp>
      <p:sp>
        <p:nvSpPr>
          <p:cNvPr id="3" name="Text 1"/>
          <p:cNvSpPr/>
          <p:nvPr/>
        </p:nvSpPr>
        <p:spPr>
          <a:xfrm>
            <a:off x="1828800" y="292608"/>
            <a:ext cx="9738360" cy="228600"/>
          </a:xfrm>
          <a:prstGeom prst="rect">
            <a:avLst/>
          </a:prstGeom>
          <a:noFill/>
          <a:ln/>
        </p:spPr>
        <p:txBody>
          <a:bodyPr wrap="square" lIns="0" tIns="0" rIns="0" bIns="0" rtlCol="0" anchor="ctr"/>
          <a:lstStyle/>
          <a:p>
            <a:pPr indent="0" marL="0">
              <a:buNone/>
            </a:pPr>
            <a:r>
              <a:rPr lang="en-US" sz="1000" b="1" spc="160" kern="0" dirty="0">
                <a:solidFill>
                  <a:srgbClr val="087F73"/>
                </a:solidFill>
                <a:latin typeface="Aptos" pitchFamily="34" charset="0"/>
                <a:ea typeface="Aptos" pitchFamily="34" charset="-122"/>
                <a:cs typeface="Aptos" pitchFamily="34" charset="-120"/>
              </a:rPr>
              <a:t>LA PROMESSE À RETENIR</a:t>
            </a:r>
            <a:endParaRPr lang="en-US" sz="1000" dirty="0"/>
          </a:p>
        </p:txBody>
      </p:sp>
      <p:sp>
        <p:nvSpPr>
          <p:cNvPr id="4" name="Shape 2"/>
          <p:cNvSpPr/>
          <p:nvPr/>
        </p:nvSpPr>
        <p:spPr>
          <a:xfrm>
            <a:off x="512064" y="6382512"/>
            <a:ext cx="11164824" cy="0"/>
          </a:xfrm>
          <a:prstGeom prst="line">
            <a:avLst/>
          </a:prstGeom>
          <a:noFill/>
          <a:ln w="12700">
            <a:solidFill>
              <a:srgbClr val="DCE5DF"/>
            </a:solidFill>
            <a:prstDash val="solid"/>
          </a:ln>
        </p:spPr>
      </p:sp>
      <p:sp>
        <p:nvSpPr>
          <p:cNvPr id="5" name="Text 3"/>
          <p:cNvSpPr/>
          <p:nvPr/>
        </p:nvSpPr>
        <p:spPr>
          <a:xfrm>
            <a:off x="512064" y="6501384"/>
            <a:ext cx="6400800" cy="155448"/>
          </a:xfrm>
          <a:prstGeom prst="rect">
            <a:avLst/>
          </a:prstGeom>
          <a:noFill/>
          <a:ln/>
        </p:spPr>
        <p:txBody>
          <a:bodyPr wrap="square" lIns="0" tIns="0" rIns="0" bIns="0" rtlCol="0" anchor="ctr"/>
          <a:lstStyle/>
          <a:p>
            <a:pPr indent="0" marL="0">
              <a:buNone/>
            </a:pPr>
            <a:r>
              <a:rPr lang="en-US" sz="900" dirty="0">
                <a:solidFill>
                  <a:srgbClr val="486064"/>
                </a:solidFill>
                <a:latin typeface="Aptos" pitchFamily="34" charset="0"/>
                <a:ea typeface="Aptos" pitchFamily="34" charset="-122"/>
                <a:cs typeface="Aptos" pitchFamily="34" charset="-120"/>
              </a:rPr>
              <a:t>ÉQUIPE DELTA  ·  CADEV 2026</a:t>
            </a:r>
            <a:endParaRPr lang="en-US" sz="900" dirty="0"/>
          </a:p>
        </p:txBody>
      </p:sp>
      <p:sp>
        <p:nvSpPr>
          <p:cNvPr id="6" name="Text 4"/>
          <p:cNvSpPr/>
          <p:nvPr/>
        </p:nvSpPr>
        <p:spPr>
          <a:xfrm>
            <a:off x="11064240" y="6473952"/>
            <a:ext cx="585216" cy="201168"/>
          </a:xfrm>
          <a:prstGeom prst="rect">
            <a:avLst/>
          </a:prstGeom>
          <a:noFill/>
          <a:ln/>
        </p:spPr>
        <p:txBody>
          <a:bodyPr wrap="square" lIns="0" tIns="0" rIns="0" bIns="0" rtlCol="0" anchor="ctr"/>
          <a:lstStyle/>
          <a:p>
            <a:pPr algn="r" indent="0" marL="0">
              <a:buNone/>
            </a:pPr>
            <a:r>
              <a:rPr lang="en-US" sz="1100" b="1" dirty="0">
                <a:solidFill>
                  <a:srgbClr val="087F73"/>
                </a:solidFill>
                <a:latin typeface="Aptos" pitchFamily="34" charset="0"/>
                <a:ea typeface="Aptos" pitchFamily="34" charset="-122"/>
                <a:cs typeface="Aptos" pitchFamily="34" charset="-120"/>
              </a:rPr>
              <a:t>09</a:t>
            </a:r>
            <a:endParaRPr lang="en-US" sz="1100" dirty="0"/>
          </a:p>
        </p:txBody>
      </p:sp>
      <p:pic>
        <p:nvPicPr>
          <p:cNvPr id="7" name="Image 0" descr="/mnt/data/_haas_coup_de_main/HAAS_Projet/assets/brand/haas-icon.png">    </p:cNvPr>
          <p:cNvPicPr>
            <a:picLocks noChangeAspect="1"/>
          </p:cNvPicPr>
          <p:nvPr/>
        </p:nvPicPr>
        <p:blipFill>
          <a:blip r:embed="rId1"/>
          <a:stretch>
            <a:fillRect/>
          </a:stretch>
        </p:blipFill>
        <p:spPr>
          <a:xfrm>
            <a:off x="9729216" y="941832"/>
            <a:ext cx="1463040" cy="1499616"/>
          </a:xfrm>
          <a:prstGeom prst="rect">
            <a:avLst/>
          </a:prstGeom>
        </p:spPr>
      </p:pic>
      <p:sp>
        <p:nvSpPr>
          <p:cNvPr id="8" name="Text 5"/>
          <p:cNvSpPr/>
          <p:nvPr/>
        </p:nvSpPr>
        <p:spPr>
          <a:xfrm>
            <a:off x="621792" y="1353312"/>
            <a:ext cx="10817352" cy="2157984"/>
          </a:xfrm>
          <a:prstGeom prst="rect">
            <a:avLst/>
          </a:prstGeom>
          <a:noFill/>
          <a:ln/>
        </p:spPr>
        <p:txBody>
          <a:bodyPr wrap="square" lIns="0" tIns="0" rIns="0" bIns="0" rtlCol="0" anchor="t"/>
          <a:lstStyle/>
          <a:p>
            <a:pPr indent="0" marL="0">
              <a:buNone/>
            </a:pPr>
            <a:r>
              <a:rPr lang="en-US" sz="3500" b="1" dirty="0">
                <a:solidFill>
                  <a:srgbClr val="102A2E"/>
                </a:solidFill>
                <a:latin typeface="Aptos" pitchFamily="34" charset="0"/>
                <a:ea typeface="Aptos" pitchFamily="34" charset="-122"/>
                <a:cs typeface="Aptos" pitchFamily="34" charset="-120"/>
              </a:rPr>
              <a:t>Une communauté qui se rencontre.</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Des projets qui avancent.</a:t>
            </a:r>
            <a:endParaRPr lang="en-US" sz="3500" dirty="0"/>
          </a:p>
          <a:p>
            <a:pPr indent="0" marL="0">
              <a:buNone/>
            </a:pPr>
            <a:r>
              <a:rPr lang="en-US" sz="3500" b="1" dirty="0">
                <a:solidFill>
                  <a:srgbClr val="102A2E"/>
                </a:solidFill>
                <a:latin typeface="Aptos" pitchFamily="34" charset="0"/>
                <a:ea typeface="Aptos" pitchFamily="34" charset="-122"/>
                <a:cs typeface="Aptos" pitchFamily="34" charset="-120"/>
              </a:rPr>
              <a:t>Des connaissances qui restent.</a:t>
            </a:r>
            <a:endParaRPr lang="en-US" sz="3500" dirty="0"/>
          </a:p>
        </p:txBody>
      </p:sp>
      <p:sp>
        <p:nvSpPr>
          <p:cNvPr id="9" name="Shape 6"/>
          <p:cNvSpPr/>
          <p:nvPr/>
        </p:nvSpPr>
        <p:spPr>
          <a:xfrm>
            <a:off x="621792" y="3995928"/>
            <a:ext cx="10917936" cy="1060704"/>
          </a:xfrm>
          <a:prstGeom prst="roundRect">
            <a:avLst>
              <a:gd name="adj" fmla="val 12069"/>
            </a:avLst>
          </a:prstGeom>
          <a:solidFill>
            <a:srgbClr val="102A2E"/>
          </a:solidFill>
          <a:ln w="10160">
            <a:solidFill>
              <a:srgbClr val="102A2E"/>
            </a:solidFill>
            <a:prstDash val="solid"/>
          </a:ln>
        </p:spPr>
      </p:sp>
      <p:sp>
        <p:nvSpPr>
          <p:cNvPr id="10" name="Text 7"/>
          <p:cNvSpPr/>
          <p:nvPr/>
        </p:nvSpPr>
        <p:spPr>
          <a:xfrm>
            <a:off x="905256" y="4279392"/>
            <a:ext cx="10369296" cy="466344"/>
          </a:xfrm>
          <a:prstGeom prst="rect">
            <a:avLst/>
          </a:prstGeom>
          <a:noFill/>
          <a:ln/>
        </p:spPr>
        <p:txBody>
          <a:bodyPr wrap="square" lIns="0" tIns="0" rIns="0" bIns="0" rtlCol="0" anchor="ctr"/>
          <a:lstStyle/>
          <a:p>
            <a:pPr indent="0" marL="0">
              <a:buNone/>
            </a:pPr>
            <a:r>
              <a:rPr lang="en-US" sz="3000" b="1" dirty="0">
                <a:solidFill>
                  <a:srgbClr val="FFFFFF"/>
                </a:solidFill>
                <a:latin typeface="Aptos" pitchFamily="34" charset="0"/>
                <a:ea typeface="Aptos" pitchFamily="34" charset="-122"/>
                <a:cs typeface="Aptos" pitchFamily="34" charset="-120"/>
              </a:rPr>
              <a:t>HAAS — La rencontre par le coup de main.</a:t>
            </a:r>
            <a:endParaRPr lang="en-US" sz="3000" dirty="0"/>
          </a:p>
        </p:txBody>
      </p:sp>
      <p:sp>
        <p:nvSpPr>
          <p:cNvPr id="11" name="Text 8"/>
          <p:cNvSpPr/>
          <p:nvPr/>
        </p:nvSpPr>
        <p:spPr>
          <a:xfrm>
            <a:off x="658368" y="5550408"/>
            <a:ext cx="10872216" cy="457200"/>
          </a:xfrm>
          <a:prstGeom prst="rect">
            <a:avLst/>
          </a:prstGeom>
          <a:noFill/>
          <a:ln/>
        </p:spPr>
        <p:txBody>
          <a:bodyPr wrap="square" lIns="0" tIns="0" rIns="0" bIns="0" rtlCol="0" anchor="ctr"/>
          <a:lstStyle/>
          <a:p>
            <a:pPr indent="0" marL="0">
              <a:buNone/>
            </a:pPr>
            <a:r>
              <a:rPr lang="en-US" sz="1880" dirty="0">
                <a:solidFill>
                  <a:srgbClr val="486064"/>
                </a:solidFill>
                <a:latin typeface="Aptos" pitchFamily="34" charset="0"/>
                <a:ea typeface="Aptos" pitchFamily="34" charset="-122"/>
                <a:cs typeface="Aptos" pitchFamily="34" charset="-120"/>
              </a:rPr>
              <a:t>À vérifier avec des testeurs : se découvrir, s’accorder, apporter une aide réellement utile.</a:t>
            </a:r>
            <a:endParaRPr lang="en-US" sz="18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HAAS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HAAS — Un projet, un coup de main, une rencontre utile</dc:title>
  <dc:subject>HAAS — Communauté et rencontre par le coup de main</dc:subject>
  <dc:creator>Équipe Delta</dc:creator>
  <cp:lastModifiedBy>Équipe Delta</cp:lastModifiedBy>
  <cp:revision>1</cp:revision>
  <dcterms:created xsi:type="dcterms:W3CDTF">2026-10-01T20:57:05Z</dcterms:created>
  <dcterms:modified xsi:type="dcterms:W3CDTF">2026-10-01T20:57:05Z</dcterms:modified>
</cp:coreProperties>
</file>